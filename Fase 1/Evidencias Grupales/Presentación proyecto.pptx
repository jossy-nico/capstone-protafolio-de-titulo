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15956" y="-12377"/>
            <a:ext cx="7904480" cy="146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1891" y="1808094"/>
            <a:ext cx="16734790" cy="5930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2026" y="6309036"/>
            <a:ext cx="6171565" cy="346392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170305" marR="5080" indent="771525" algn="r">
              <a:lnSpc>
                <a:spcPts val="4430"/>
              </a:lnSpc>
              <a:spcBef>
                <a:spcPts val="680"/>
              </a:spcBef>
            </a:pPr>
            <a:r>
              <a:rPr sz="4100" spc="-275" dirty="0">
                <a:solidFill>
                  <a:srgbClr val="FFFFFF"/>
                </a:solidFill>
                <a:latin typeface="Arial MT"/>
                <a:cs typeface="Arial MT"/>
              </a:rPr>
              <a:t>Proyecto</a:t>
            </a:r>
            <a:r>
              <a:rPr sz="4100" spc="-3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600" dirty="0">
                <a:solidFill>
                  <a:srgbClr val="FFFFFF"/>
                </a:solidFill>
                <a:latin typeface="Arial MT"/>
                <a:cs typeface="Arial MT"/>
              </a:rPr>
              <a:t>APT</a:t>
            </a:r>
            <a:r>
              <a:rPr sz="4100" spc="-3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7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4100" spc="-3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459" dirty="0">
                <a:solidFill>
                  <a:srgbClr val="FFFFFF"/>
                </a:solidFill>
                <a:latin typeface="Arial MT"/>
                <a:cs typeface="Arial MT"/>
              </a:rPr>
              <a:t>Fase</a:t>
            </a:r>
            <a:r>
              <a:rPr sz="4100" spc="-3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1165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4100" spc="-254" dirty="0">
                <a:solidFill>
                  <a:srgbClr val="FFFFFF"/>
                </a:solidFill>
                <a:latin typeface="Arial MT"/>
                <a:cs typeface="Arial MT"/>
              </a:rPr>
              <a:t> Ingeniería</a:t>
            </a:r>
            <a:r>
              <a:rPr sz="4100" spc="-3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285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4100" spc="-3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204" dirty="0">
                <a:solidFill>
                  <a:srgbClr val="FFFFFF"/>
                </a:solidFill>
                <a:latin typeface="Arial MT"/>
                <a:cs typeface="Arial MT"/>
              </a:rPr>
              <a:t>Informática </a:t>
            </a:r>
            <a:r>
              <a:rPr sz="4100" spc="-305" dirty="0">
                <a:solidFill>
                  <a:srgbClr val="FFFFFF"/>
                </a:solidFill>
                <a:latin typeface="Arial MT"/>
                <a:cs typeface="Arial MT"/>
              </a:rPr>
              <a:t>Capstone</a:t>
            </a:r>
            <a:r>
              <a:rPr sz="4100" spc="-3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7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4100" spc="-3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310" dirty="0">
                <a:solidFill>
                  <a:srgbClr val="FFFFFF"/>
                </a:solidFill>
                <a:latin typeface="Arial MT"/>
                <a:cs typeface="Arial MT"/>
              </a:rPr>
              <a:t>Duoc</a:t>
            </a:r>
            <a:r>
              <a:rPr sz="4100" spc="-3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530" dirty="0">
                <a:solidFill>
                  <a:srgbClr val="FFFFFF"/>
                </a:solidFill>
                <a:latin typeface="Arial MT"/>
                <a:cs typeface="Arial MT"/>
              </a:rPr>
              <a:t>UC</a:t>
            </a:r>
            <a:endParaRPr sz="4100">
              <a:latin typeface="Arial MT"/>
              <a:cs typeface="Arial MT"/>
            </a:endParaRPr>
          </a:p>
          <a:p>
            <a:pPr marR="5080" algn="r">
              <a:lnSpc>
                <a:spcPts val="4100"/>
              </a:lnSpc>
            </a:pPr>
            <a:r>
              <a:rPr sz="4100" spc="-345" dirty="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4100">
              <a:latin typeface="Arial MT"/>
              <a:cs typeface="Arial MT"/>
            </a:endParaRPr>
          </a:p>
          <a:p>
            <a:pPr marL="1552575" marR="5080" indent="-1540510" algn="r">
              <a:lnSpc>
                <a:spcPts val="4420"/>
              </a:lnSpc>
              <a:spcBef>
                <a:spcPts val="315"/>
              </a:spcBef>
            </a:pPr>
            <a:r>
              <a:rPr sz="4100" spc="-315" dirty="0">
                <a:solidFill>
                  <a:srgbClr val="FFFFFF"/>
                </a:solidFill>
                <a:latin typeface="Arial MT"/>
                <a:cs typeface="Arial MT"/>
              </a:rPr>
              <a:t>Joselyn</a:t>
            </a:r>
            <a:r>
              <a:rPr sz="4100" spc="-3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225" dirty="0">
                <a:solidFill>
                  <a:srgbClr val="FFFFFF"/>
                </a:solidFill>
                <a:latin typeface="Arial MT"/>
                <a:cs typeface="Arial MT"/>
              </a:rPr>
              <a:t>Nicole</a:t>
            </a:r>
            <a:r>
              <a:rPr sz="4100" spc="-3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275" dirty="0">
                <a:solidFill>
                  <a:srgbClr val="FFFFFF"/>
                </a:solidFill>
                <a:latin typeface="Arial MT"/>
                <a:cs typeface="Arial MT"/>
              </a:rPr>
              <a:t>Gallardo</a:t>
            </a:r>
            <a:r>
              <a:rPr sz="4100" spc="-350" dirty="0">
                <a:solidFill>
                  <a:srgbClr val="FFFFFF"/>
                </a:solidFill>
                <a:latin typeface="Arial MT"/>
                <a:cs typeface="Arial MT"/>
              </a:rPr>
              <a:t> Zapata </a:t>
            </a:r>
            <a:r>
              <a:rPr sz="4100" spc="-265" dirty="0">
                <a:solidFill>
                  <a:srgbClr val="FFFFFF"/>
                </a:solidFill>
                <a:latin typeface="Arial MT"/>
                <a:cs typeface="Arial MT"/>
              </a:rPr>
              <a:t>Docente:</a:t>
            </a:r>
            <a:r>
              <a:rPr sz="4100" spc="-3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265" dirty="0">
                <a:solidFill>
                  <a:srgbClr val="FFFFFF"/>
                </a:solidFill>
                <a:latin typeface="Arial MT"/>
                <a:cs typeface="Arial MT"/>
              </a:rPr>
              <a:t>Diego</a:t>
            </a:r>
            <a:r>
              <a:rPr sz="4100" spc="-3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100" spc="-400" dirty="0">
                <a:solidFill>
                  <a:srgbClr val="FFFFFF"/>
                </a:solidFill>
                <a:latin typeface="Arial MT"/>
                <a:cs typeface="Arial MT"/>
              </a:rPr>
              <a:t>Garces</a:t>
            </a:r>
            <a:endParaRPr sz="41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95198" y="1640913"/>
            <a:ext cx="16074390" cy="200660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sz="8450" spc="130" dirty="0">
                <a:latin typeface="Trebuchet MS"/>
                <a:cs typeface="Trebuchet MS"/>
              </a:rPr>
              <a:t>E-</a:t>
            </a:r>
            <a:r>
              <a:rPr sz="8450" spc="505" dirty="0">
                <a:latin typeface="Trebuchet MS"/>
                <a:cs typeface="Trebuchet MS"/>
              </a:rPr>
              <a:t>COMMERCE</a:t>
            </a:r>
            <a:r>
              <a:rPr sz="8450" spc="-160" dirty="0">
                <a:latin typeface="Trebuchet MS"/>
                <a:cs typeface="Trebuchet MS"/>
              </a:rPr>
              <a:t> </a:t>
            </a:r>
            <a:r>
              <a:rPr sz="8450" spc="335" dirty="0">
                <a:latin typeface="Trebuchet MS"/>
                <a:cs typeface="Trebuchet MS"/>
              </a:rPr>
              <a:t>FRUTOS</a:t>
            </a:r>
            <a:r>
              <a:rPr sz="8450" spc="-160" dirty="0">
                <a:latin typeface="Trebuchet MS"/>
                <a:cs typeface="Trebuchet MS"/>
              </a:rPr>
              <a:t> </a:t>
            </a:r>
            <a:r>
              <a:rPr sz="8450" spc="610" dirty="0">
                <a:latin typeface="Trebuchet MS"/>
                <a:cs typeface="Trebuchet MS"/>
              </a:rPr>
              <a:t>SECOS</a:t>
            </a:r>
            <a:endParaRPr sz="8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3700" spc="260" dirty="0">
                <a:latin typeface="Trebuchet MS"/>
                <a:cs typeface="Trebuchet MS"/>
              </a:rPr>
              <a:t>DISEÑO</a:t>
            </a:r>
            <a:r>
              <a:rPr sz="3700" spc="-70" dirty="0">
                <a:latin typeface="Trebuchet MS"/>
                <a:cs typeface="Trebuchet MS"/>
              </a:rPr>
              <a:t> </a:t>
            </a:r>
            <a:r>
              <a:rPr sz="3700" spc="80" dirty="0">
                <a:latin typeface="Trebuchet MS"/>
                <a:cs typeface="Trebuchet MS"/>
              </a:rPr>
              <a:t>Y</a:t>
            </a:r>
            <a:r>
              <a:rPr sz="3700" spc="-65" dirty="0">
                <a:latin typeface="Trebuchet MS"/>
                <a:cs typeface="Trebuchet MS"/>
              </a:rPr>
              <a:t> </a:t>
            </a:r>
            <a:r>
              <a:rPr sz="3700" spc="165" dirty="0">
                <a:latin typeface="Trebuchet MS"/>
                <a:cs typeface="Trebuchet MS"/>
              </a:rPr>
              <a:t>DESARROLLO</a:t>
            </a:r>
            <a:r>
              <a:rPr sz="3700" spc="-70" dirty="0">
                <a:latin typeface="Trebuchet MS"/>
                <a:cs typeface="Trebuchet MS"/>
              </a:rPr>
              <a:t> </a:t>
            </a:r>
            <a:r>
              <a:rPr sz="3700" spc="145" dirty="0">
                <a:latin typeface="Trebuchet MS"/>
                <a:cs typeface="Trebuchet MS"/>
              </a:rPr>
              <a:t>DE</a:t>
            </a:r>
            <a:r>
              <a:rPr sz="3700" spc="-65" dirty="0">
                <a:latin typeface="Trebuchet MS"/>
                <a:cs typeface="Trebuchet MS"/>
              </a:rPr>
              <a:t> </a:t>
            </a:r>
            <a:r>
              <a:rPr sz="3700" spc="135" dirty="0">
                <a:latin typeface="Trebuchet MS"/>
                <a:cs typeface="Trebuchet MS"/>
              </a:rPr>
              <a:t>UNA</a:t>
            </a:r>
            <a:r>
              <a:rPr sz="3700" spc="-70" dirty="0">
                <a:latin typeface="Trebuchet MS"/>
                <a:cs typeface="Trebuchet MS"/>
              </a:rPr>
              <a:t> </a:t>
            </a:r>
            <a:r>
              <a:rPr sz="3700" spc="235" dirty="0">
                <a:latin typeface="Trebuchet MS"/>
                <a:cs typeface="Trebuchet MS"/>
              </a:rPr>
              <a:t>SOLUCIÓN</a:t>
            </a:r>
            <a:r>
              <a:rPr sz="3700" spc="-65" dirty="0">
                <a:latin typeface="Trebuchet MS"/>
                <a:cs typeface="Trebuchet MS"/>
              </a:rPr>
              <a:t> </a:t>
            </a:r>
            <a:r>
              <a:rPr sz="3700" spc="145" dirty="0">
                <a:latin typeface="Trebuchet MS"/>
                <a:cs typeface="Trebuchet MS"/>
              </a:rPr>
              <a:t>DE</a:t>
            </a:r>
            <a:r>
              <a:rPr sz="3700" spc="-70" dirty="0">
                <a:latin typeface="Trebuchet MS"/>
                <a:cs typeface="Trebuchet MS"/>
              </a:rPr>
              <a:t> </a:t>
            </a:r>
            <a:r>
              <a:rPr sz="3700" spc="235" dirty="0">
                <a:latin typeface="Trebuchet MS"/>
                <a:cs typeface="Trebuchet MS"/>
              </a:rPr>
              <a:t>COMERCIO</a:t>
            </a:r>
            <a:r>
              <a:rPr sz="3700" spc="-65" dirty="0">
                <a:latin typeface="Trebuchet MS"/>
                <a:cs typeface="Trebuchet MS"/>
              </a:rPr>
              <a:t> </a:t>
            </a:r>
            <a:r>
              <a:rPr sz="3700" spc="150" dirty="0">
                <a:latin typeface="Trebuchet MS"/>
                <a:cs typeface="Trebuchet MS"/>
              </a:rPr>
              <a:t>ELECTRÓNICO</a:t>
            </a:r>
            <a:endParaRPr sz="3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51305" y="1276232"/>
            <a:ext cx="5431155" cy="98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0" dirty="0"/>
              <a:t>Equipo</a:t>
            </a:r>
            <a:r>
              <a:rPr spc="-590" dirty="0"/>
              <a:t> </a:t>
            </a:r>
            <a:r>
              <a:rPr spc="-390" dirty="0"/>
              <a:t>de</a:t>
            </a:r>
            <a:r>
              <a:rPr spc="-585" dirty="0"/>
              <a:t> </a:t>
            </a:r>
            <a:r>
              <a:rPr spc="-355" dirty="0"/>
              <a:t>trabajo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220" y="4533562"/>
            <a:ext cx="133349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220" y="6333787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220" y="7533937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220" y="8734087"/>
            <a:ext cx="133349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4195" y="3138594"/>
            <a:ext cx="17394555" cy="58737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spc="150" dirty="0">
                <a:solidFill>
                  <a:srgbClr val="FFFFFF"/>
                </a:solidFill>
                <a:latin typeface="Tahoma"/>
                <a:cs typeface="Tahoma"/>
              </a:rPr>
              <a:t>Joselyn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Nicole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Gallardo</a:t>
            </a:r>
            <a:r>
              <a:rPr sz="29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Zapata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29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95" dirty="0">
                <a:solidFill>
                  <a:srgbClr val="FFFFFF"/>
                </a:solidFill>
                <a:latin typeface="Tahoma"/>
                <a:cs typeface="Tahoma"/>
              </a:rPr>
              <a:t>Ingeniería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85" dirty="0">
                <a:solidFill>
                  <a:srgbClr val="FFFFFF"/>
                </a:solidFill>
                <a:latin typeface="Tahoma"/>
                <a:cs typeface="Tahoma"/>
              </a:rPr>
              <a:t>Informática.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900">
              <a:latin typeface="Tahoma"/>
              <a:cs typeface="Tahoma"/>
            </a:endParaRPr>
          </a:p>
          <a:p>
            <a:pPr marL="645795" marR="5080">
              <a:lnSpc>
                <a:spcPct val="135800"/>
              </a:lnSpc>
            </a:pPr>
            <a:r>
              <a:rPr sz="2900" spc="45" dirty="0">
                <a:solidFill>
                  <a:srgbClr val="FFFFFF"/>
                </a:solidFill>
                <a:latin typeface="Arial Black"/>
                <a:cs typeface="Arial Black"/>
              </a:rPr>
              <a:t>Product</a:t>
            </a:r>
            <a:r>
              <a:rPr sz="2900" spc="2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spc="60" dirty="0">
                <a:solidFill>
                  <a:srgbClr val="FFFFFF"/>
                </a:solidFill>
                <a:latin typeface="Arial Black"/>
                <a:cs typeface="Arial Black"/>
              </a:rPr>
              <a:t>Owner</a:t>
            </a:r>
            <a:r>
              <a:rPr sz="2900" spc="2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z="2900" spc="2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spc="50" dirty="0">
                <a:solidFill>
                  <a:srgbClr val="FFFFFF"/>
                </a:solidFill>
                <a:latin typeface="Arial Black"/>
                <a:cs typeface="Arial Black"/>
              </a:rPr>
              <a:t>Analista:</a:t>
            </a:r>
            <a:r>
              <a:rPr sz="2900" spc="2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spc="290" dirty="0">
                <a:solidFill>
                  <a:srgbClr val="FFFFFF"/>
                </a:solidFill>
                <a:latin typeface="Trebuchet MS"/>
                <a:cs typeface="Trebuchet MS"/>
              </a:rPr>
              <a:t>Encargada</a:t>
            </a:r>
            <a:r>
              <a:rPr sz="29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9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35" dirty="0">
                <a:solidFill>
                  <a:srgbClr val="FFFFFF"/>
                </a:solidFill>
                <a:latin typeface="Trebuchet MS"/>
                <a:cs typeface="Trebuchet MS"/>
              </a:rPr>
              <a:t>definición</a:t>
            </a:r>
            <a:r>
              <a:rPr sz="29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65" dirty="0">
                <a:solidFill>
                  <a:srgbClr val="FFFFFF"/>
                </a:solidFill>
                <a:latin typeface="Trebuchet MS"/>
                <a:cs typeface="Trebuchet MS"/>
              </a:rPr>
              <a:t>requerimientos,</a:t>
            </a:r>
            <a:r>
              <a:rPr sz="29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rebuchet MS"/>
                <a:cs typeface="Trebuchet MS"/>
              </a:rPr>
              <a:t>alcance</a:t>
            </a:r>
            <a:r>
              <a:rPr sz="29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-50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900" spc="215" dirty="0">
                <a:solidFill>
                  <a:srgbClr val="FFFFFF"/>
                </a:solidFill>
                <a:latin typeface="Trebuchet MS"/>
                <a:cs typeface="Trebuchet MS"/>
              </a:rPr>
              <a:t>priorización.</a:t>
            </a:r>
            <a:endParaRPr sz="2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5"/>
              </a:spcBef>
            </a:pPr>
            <a:endParaRPr sz="2900">
              <a:latin typeface="Trebuchet MS"/>
              <a:cs typeface="Trebuchet MS"/>
            </a:endParaRPr>
          </a:p>
          <a:p>
            <a:pPr marL="645795">
              <a:lnSpc>
                <a:spcPct val="100000"/>
              </a:lnSpc>
            </a:pPr>
            <a:r>
              <a:rPr sz="2900" spc="90" dirty="0">
                <a:solidFill>
                  <a:srgbClr val="FFFFFF"/>
                </a:solidFill>
                <a:latin typeface="Arial Black"/>
                <a:cs typeface="Arial Black"/>
              </a:rPr>
              <a:t>Desarrolladora</a:t>
            </a:r>
            <a:r>
              <a:rPr sz="2900" spc="2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Full</a:t>
            </a:r>
            <a:r>
              <a:rPr sz="2900" spc="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Stack:</a:t>
            </a:r>
            <a:r>
              <a:rPr sz="2900" spc="22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spc="290" dirty="0">
                <a:solidFill>
                  <a:srgbClr val="FFFFFF"/>
                </a:solidFill>
                <a:latin typeface="Trebuchet MS"/>
                <a:cs typeface="Trebuchet MS"/>
              </a:rPr>
              <a:t>Desarrollo</a:t>
            </a:r>
            <a:r>
              <a:rPr sz="2900" spc="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80" dirty="0">
                <a:solidFill>
                  <a:srgbClr val="FFFFFF"/>
                </a:solidFill>
                <a:latin typeface="Trebuchet MS"/>
                <a:cs typeface="Trebuchet MS"/>
              </a:rPr>
              <a:t>móvil,</a:t>
            </a:r>
            <a:r>
              <a:rPr sz="2900" spc="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65" dirty="0">
                <a:solidFill>
                  <a:srgbClr val="FFFFFF"/>
                </a:solidFill>
                <a:latin typeface="Trebuchet MS"/>
                <a:cs typeface="Trebuchet MS"/>
              </a:rPr>
              <a:t>web,</a:t>
            </a:r>
            <a:r>
              <a:rPr sz="2900" spc="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85" dirty="0">
                <a:solidFill>
                  <a:srgbClr val="FFFFFF"/>
                </a:solidFill>
                <a:latin typeface="Trebuchet MS"/>
                <a:cs typeface="Trebuchet MS"/>
              </a:rPr>
              <a:t>backend</a:t>
            </a:r>
            <a:r>
              <a:rPr sz="2900" spc="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900" spc="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10" dirty="0">
                <a:solidFill>
                  <a:srgbClr val="FFFFFF"/>
                </a:solidFill>
                <a:latin typeface="Trebuchet MS"/>
                <a:cs typeface="Trebuchet MS"/>
              </a:rPr>
              <a:t>integración.</a:t>
            </a:r>
            <a:endParaRPr sz="2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0"/>
              </a:spcBef>
            </a:pPr>
            <a:endParaRPr sz="2900">
              <a:latin typeface="Trebuchet MS"/>
              <a:cs typeface="Trebuchet MS"/>
            </a:endParaRPr>
          </a:p>
          <a:p>
            <a:pPr marL="645795">
              <a:lnSpc>
                <a:spcPct val="100000"/>
              </a:lnSpc>
            </a:pP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QA</a:t>
            </a:r>
            <a:r>
              <a:rPr sz="2900" spc="22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z="2900" spc="22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Tester:</a:t>
            </a:r>
            <a:r>
              <a:rPr sz="2900" spc="2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spc="330" dirty="0">
                <a:solidFill>
                  <a:srgbClr val="FFFFFF"/>
                </a:solidFill>
                <a:latin typeface="Trebuchet MS"/>
                <a:cs typeface="Trebuchet MS"/>
              </a:rPr>
              <a:t>Diseño</a:t>
            </a:r>
            <a:r>
              <a:rPr sz="2900" spc="3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9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10" dirty="0">
                <a:solidFill>
                  <a:srgbClr val="FFFFFF"/>
                </a:solidFill>
                <a:latin typeface="Trebuchet MS"/>
                <a:cs typeface="Trebuchet MS"/>
              </a:rPr>
              <a:t>ejecución</a:t>
            </a:r>
            <a:r>
              <a:rPr sz="2900" spc="3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3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320" dirty="0">
                <a:solidFill>
                  <a:srgbClr val="FFFFFF"/>
                </a:solidFill>
                <a:latin typeface="Trebuchet MS"/>
                <a:cs typeface="Trebuchet MS"/>
              </a:rPr>
              <a:t>pruebas</a:t>
            </a:r>
            <a:r>
              <a:rPr sz="29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70" dirty="0">
                <a:solidFill>
                  <a:srgbClr val="FFFFFF"/>
                </a:solidFill>
                <a:latin typeface="Trebuchet MS"/>
                <a:cs typeface="Trebuchet MS"/>
              </a:rPr>
              <a:t>funcionales</a:t>
            </a:r>
            <a:r>
              <a:rPr sz="2900" spc="3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9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75" dirty="0">
                <a:solidFill>
                  <a:srgbClr val="FFFFFF"/>
                </a:solidFill>
                <a:latin typeface="Trebuchet MS"/>
                <a:cs typeface="Trebuchet MS"/>
              </a:rPr>
              <a:t>técnicas.</a:t>
            </a:r>
            <a:endParaRPr sz="2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5"/>
              </a:spcBef>
            </a:pPr>
            <a:endParaRPr sz="2900">
              <a:latin typeface="Trebuchet MS"/>
              <a:cs typeface="Trebuchet MS"/>
            </a:endParaRPr>
          </a:p>
          <a:p>
            <a:pPr marL="645795">
              <a:lnSpc>
                <a:spcPct val="100000"/>
              </a:lnSpc>
            </a:pP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Scrum</a:t>
            </a:r>
            <a:r>
              <a:rPr sz="2900" spc="2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spc="65" dirty="0">
                <a:solidFill>
                  <a:srgbClr val="FFFFFF"/>
                </a:solidFill>
                <a:latin typeface="Arial Black"/>
                <a:cs typeface="Arial Black"/>
              </a:rPr>
              <a:t>Master</a:t>
            </a:r>
            <a:r>
              <a:rPr sz="2900" spc="2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z="2900" spc="2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dirty="0">
                <a:solidFill>
                  <a:srgbClr val="FFFFFF"/>
                </a:solidFill>
                <a:latin typeface="Arial Black"/>
                <a:cs typeface="Arial Black"/>
              </a:rPr>
              <a:t>Gestión:</a:t>
            </a:r>
            <a:r>
              <a:rPr sz="2900" spc="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rebuchet MS"/>
                <a:cs typeface="Trebuchet MS"/>
              </a:rPr>
              <a:t>Planificación,</a:t>
            </a:r>
            <a:r>
              <a:rPr sz="2900" spc="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90" dirty="0">
                <a:solidFill>
                  <a:srgbClr val="FFFFFF"/>
                </a:solidFill>
                <a:latin typeface="Trebuchet MS"/>
                <a:cs typeface="Trebuchet MS"/>
              </a:rPr>
              <a:t>seguimiento</a:t>
            </a:r>
            <a:r>
              <a:rPr sz="2900" spc="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900" spc="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65" dirty="0">
                <a:solidFill>
                  <a:srgbClr val="FFFFFF"/>
                </a:solidFill>
                <a:latin typeface="Trebuchet MS"/>
                <a:cs typeface="Trebuchet MS"/>
              </a:rPr>
              <a:t>gestión</a:t>
            </a:r>
            <a:r>
              <a:rPr sz="2900" spc="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80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900" spc="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10" dirty="0">
                <a:solidFill>
                  <a:srgbClr val="FFFFFF"/>
                </a:solidFill>
                <a:latin typeface="Trebuchet MS"/>
                <a:cs typeface="Trebuchet MS"/>
              </a:rPr>
              <a:t>proyecto.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464216"/>
            <a:ext cx="4091940" cy="98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20" dirty="0"/>
              <a:t>Problemática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10" y="2090737"/>
            <a:ext cx="133349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210" y="3890962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10" y="5091112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210" y="6291262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210" y="7491411"/>
            <a:ext cx="133349" cy="1333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62597" y="1742986"/>
            <a:ext cx="7112634" cy="7826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5800"/>
              </a:lnSpc>
              <a:spcBef>
                <a:spcPts val="90"/>
              </a:spcBef>
            </a:pPr>
            <a:r>
              <a:rPr sz="2900" spc="229" dirty="0">
                <a:solidFill>
                  <a:srgbClr val="FFFFFF"/>
                </a:solidFill>
                <a:latin typeface="Tahoma"/>
                <a:cs typeface="Tahoma"/>
              </a:rPr>
              <a:t>Información</a:t>
            </a:r>
            <a:r>
              <a:rPr sz="2900" spc="67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67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productos,</a:t>
            </a:r>
            <a:r>
              <a:rPr sz="2900" spc="67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160" dirty="0">
                <a:solidFill>
                  <a:srgbClr val="FFFFFF"/>
                </a:solidFill>
                <a:latin typeface="Tahoma"/>
                <a:cs typeface="Tahoma"/>
              </a:rPr>
              <a:t>stock, </a:t>
            </a:r>
            <a:r>
              <a:rPr sz="2900" spc="204" dirty="0">
                <a:solidFill>
                  <a:srgbClr val="FFFFFF"/>
                </a:solidFill>
                <a:latin typeface="Tahoma"/>
                <a:cs typeface="Tahoma"/>
              </a:rPr>
              <a:t>clientes,</a:t>
            </a:r>
            <a:r>
              <a:rPr sz="2900" spc="484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ventas</a:t>
            </a:r>
            <a:r>
              <a:rPr sz="2900" spc="490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484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pedidos</a:t>
            </a:r>
            <a:r>
              <a:rPr sz="2900" spc="490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900" spc="175" dirty="0">
                <a:solidFill>
                  <a:srgbClr val="FFFFFF"/>
                </a:solidFill>
                <a:latin typeface="Tahoma"/>
                <a:cs typeface="Tahoma"/>
              </a:rPr>
              <a:t>no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centralizada.</a:t>
            </a:r>
            <a:endParaRPr sz="2900">
              <a:latin typeface="Tahoma"/>
              <a:cs typeface="Tahoma"/>
            </a:endParaRPr>
          </a:p>
          <a:p>
            <a:pPr marL="12700" marR="5080" algn="just">
              <a:lnSpc>
                <a:spcPct val="135800"/>
              </a:lnSpc>
            </a:pP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Posibles</a:t>
            </a:r>
            <a:r>
              <a:rPr sz="2900" spc="17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45" dirty="0">
                <a:solidFill>
                  <a:srgbClr val="FFFFFF"/>
                </a:solidFill>
                <a:latin typeface="Tahoma"/>
                <a:cs typeface="Tahoma"/>
              </a:rPr>
              <a:t>diferencias</a:t>
            </a:r>
            <a:r>
              <a:rPr sz="2900" spc="1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entre</a:t>
            </a:r>
            <a:r>
              <a:rPr sz="2900" spc="1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145" dirty="0">
                <a:solidFill>
                  <a:srgbClr val="FFFFFF"/>
                </a:solidFill>
                <a:latin typeface="Tahoma"/>
                <a:cs typeface="Tahoma"/>
              </a:rPr>
              <a:t>el</a:t>
            </a:r>
            <a:r>
              <a:rPr sz="2900" spc="1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04" dirty="0">
                <a:solidFill>
                  <a:srgbClr val="FFFFFF"/>
                </a:solidFill>
                <a:latin typeface="Tahoma"/>
                <a:cs typeface="Tahoma"/>
              </a:rPr>
              <a:t>stock </a:t>
            </a:r>
            <a:r>
              <a:rPr sz="2900" spc="275" dirty="0">
                <a:solidFill>
                  <a:srgbClr val="FFFFFF"/>
                </a:solidFill>
                <a:latin typeface="Tahoma"/>
                <a:cs typeface="Tahoma"/>
              </a:rPr>
              <a:t>disponible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45" dirty="0">
                <a:solidFill>
                  <a:srgbClr val="FFFFFF"/>
                </a:solidFill>
                <a:latin typeface="Tahoma"/>
                <a:cs typeface="Tahoma"/>
              </a:rPr>
              <a:t>el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registrado.</a:t>
            </a:r>
            <a:endParaRPr sz="2900">
              <a:latin typeface="Tahoma"/>
              <a:cs typeface="Tahoma"/>
            </a:endParaRPr>
          </a:p>
          <a:p>
            <a:pPr marL="12700" marR="5080" algn="just">
              <a:lnSpc>
                <a:spcPct val="135800"/>
              </a:lnSpc>
            </a:pPr>
            <a:r>
              <a:rPr sz="2900" spc="229" dirty="0">
                <a:solidFill>
                  <a:srgbClr val="FFFFFF"/>
                </a:solidFill>
                <a:latin typeface="Tahoma"/>
                <a:cs typeface="Tahoma"/>
              </a:rPr>
              <a:t>Dificultad</a:t>
            </a:r>
            <a:r>
              <a:rPr sz="2900" spc="500" dirty="0">
                <a:solidFill>
                  <a:srgbClr val="FFFFFF"/>
                </a:solidFill>
                <a:latin typeface="Tahoma"/>
                <a:cs typeface="Tahoma"/>
              </a:rPr>
              <a:t>    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sz="2900" spc="505" dirty="0">
                <a:solidFill>
                  <a:srgbClr val="FFFFFF"/>
                </a:solidFill>
                <a:latin typeface="Tahoma"/>
                <a:cs typeface="Tahoma"/>
              </a:rPr>
              <a:t>     </a:t>
            </a:r>
            <a:r>
              <a:rPr sz="2900" spc="229" dirty="0">
                <a:solidFill>
                  <a:srgbClr val="FFFFFF"/>
                </a:solidFill>
                <a:latin typeface="Tahoma"/>
                <a:cs typeface="Tahoma"/>
              </a:rPr>
              <a:t>realizar</a:t>
            </a:r>
            <a:r>
              <a:rPr sz="2900" spc="505" dirty="0">
                <a:solidFill>
                  <a:srgbClr val="FFFFFF"/>
                </a:solidFill>
                <a:latin typeface="Tahoma"/>
                <a:cs typeface="Tahoma"/>
              </a:rPr>
              <a:t>     </a:t>
            </a:r>
            <a:r>
              <a:rPr sz="2900" spc="75" dirty="0">
                <a:solidFill>
                  <a:srgbClr val="FFFFFF"/>
                </a:solidFill>
                <a:latin typeface="Tahoma"/>
                <a:cs typeface="Tahoma"/>
              </a:rPr>
              <a:t>el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seguimiento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70" dirty="0">
                <a:solidFill>
                  <a:srgbClr val="FFFFFF"/>
                </a:solidFill>
                <a:latin typeface="Tahoma"/>
                <a:cs typeface="Tahoma"/>
              </a:rPr>
              <a:t>las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65" dirty="0">
                <a:solidFill>
                  <a:srgbClr val="FFFFFF"/>
                </a:solidFill>
                <a:latin typeface="Tahoma"/>
                <a:cs typeface="Tahoma"/>
              </a:rPr>
              <a:t>ventas.</a:t>
            </a:r>
            <a:endParaRPr sz="2900">
              <a:latin typeface="Tahoma"/>
              <a:cs typeface="Tahoma"/>
            </a:endParaRPr>
          </a:p>
          <a:p>
            <a:pPr marL="12700" marR="5080" algn="just">
              <a:lnSpc>
                <a:spcPct val="135800"/>
              </a:lnSpc>
            </a:pP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Mayor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20" dirty="0">
                <a:solidFill>
                  <a:srgbClr val="FFFFFF"/>
                </a:solidFill>
                <a:latin typeface="Tahoma"/>
                <a:cs typeface="Tahoma"/>
              </a:rPr>
              <a:t>trabajo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administrar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90" dirty="0">
                <a:solidFill>
                  <a:srgbClr val="FFFFFF"/>
                </a:solidFill>
                <a:latin typeface="Tahoma"/>
                <a:cs typeface="Tahoma"/>
              </a:rPr>
              <a:t>la 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información</a:t>
            </a:r>
            <a:r>
              <a:rPr sz="2900" spc="3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del</a:t>
            </a:r>
            <a:r>
              <a:rPr sz="2900" spc="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0" dirty="0">
                <a:solidFill>
                  <a:srgbClr val="FFFFFF"/>
                </a:solidFill>
                <a:latin typeface="Tahoma"/>
                <a:cs typeface="Tahoma"/>
              </a:rPr>
              <a:t>negocio.</a:t>
            </a:r>
            <a:endParaRPr sz="2900">
              <a:latin typeface="Tahoma"/>
              <a:cs typeface="Tahoma"/>
            </a:endParaRPr>
          </a:p>
          <a:p>
            <a:pPr marL="12700" marR="5080" algn="just">
              <a:lnSpc>
                <a:spcPct val="135800"/>
              </a:lnSpc>
            </a:pPr>
            <a:r>
              <a:rPr sz="2900" spc="270" dirty="0">
                <a:solidFill>
                  <a:srgbClr val="FFFFFF"/>
                </a:solidFill>
                <a:latin typeface="Tahoma"/>
                <a:cs typeface="Tahoma"/>
              </a:rPr>
              <a:t>Necesidad</a:t>
            </a:r>
            <a:r>
              <a:rPr sz="2900" spc="380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380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sz="2900" spc="380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900" spc="210" dirty="0">
                <a:solidFill>
                  <a:srgbClr val="FFFFFF"/>
                </a:solidFill>
                <a:latin typeface="Tahoma"/>
                <a:cs typeface="Tahoma"/>
              </a:rPr>
              <a:t>los</a:t>
            </a:r>
            <a:r>
              <a:rPr sz="2900" spc="380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clientes </a:t>
            </a:r>
            <a:r>
              <a:rPr sz="2900" spc="280" dirty="0">
                <a:solidFill>
                  <a:srgbClr val="FFFFFF"/>
                </a:solidFill>
                <a:latin typeface="Tahoma"/>
                <a:cs typeface="Tahoma"/>
              </a:rPr>
              <a:t>puedan</a:t>
            </a:r>
            <a:r>
              <a:rPr sz="2900" spc="5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consultar</a:t>
            </a:r>
            <a:r>
              <a:rPr sz="2900" spc="5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productos,</a:t>
            </a:r>
            <a:r>
              <a:rPr sz="2900" spc="5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revisar </a:t>
            </a:r>
            <a:r>
              <a:rPr sz="2900" spc="220" dirty="0">
                <a:solidFill>
                  <a:srgbClr val="FFFFFF"/>
                </a:solidFill>
                <a:latin typeface="Tahoma"/>
                <a:cs typeface="Tahoma"/>
              </a:rPr>
              <a:t>sus</a:t>
            </a:r>
            <a:r>
              <a:rPr sz="2900" spc="53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características</a:t>
            </a:r>
            <a:r>
              <a:rPr sz="2900" spc="53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53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75" dirty="0">
                <a:solidFill>
                  <a:srgbClr val="FFFFFF"/>
                </a:solidFill>
                <a:latin typeface="Tahoma"/>
                <a:cs typeface="Tahoma"/>
              </a:rPr>
              <a:t>comprar</a:t>
            </a:r>
            <a:r>
              <a:rPr sz="2900" spc="53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180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forma</a:t>
            </a:r>
            <a:r>
              <a:rPr sz="29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95" dirty="0">
                <a:solidFill>
                  <a:srgbClr val="FFFFFF"/>
                </a:solidFill>
                <a:latin typeface="Tahoma"/>
                <a:cs typeface="Tahoma"/>
              </a:rPr>
              <a:t>sencilla.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59348" y="464216"/>
            <a:ext cx="6769734" cy="98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300" spc="-490" dirty="0">
                <a:solidFill>
                  <a:srgbClr val="FFFFFF"/>
                </a:solidFill>
                <a:latin typeface="Arial MT"/>
                <a:cs typeface="Arial MT"/>
              </a:rPr>
              <a:t>Propuesta</a:t>
            </a:r>
            <a:r>
              <a:rPr sz="6300" spc="-5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300" spc="-39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6300" spc="-5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300" spc="-409" dirty="0">
                <a:solidFill>
                  <a:srgbClr val="FFFFFF"/>
                </a:solidFill>
                <a:latin typeface="Arial MT"/>
                <a:cs typeface="Arial MT"/>
              </a:rPr>
              <a:t>solución</a:t>
            </a:r>
            <a:endParaRPr sz="63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59173" y="2090737"/>
            <a:ext cx="133349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59173" y="3290887"/>
            <a:ext cx="133349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59173" y="4491037"/>
            <a:ext cx="133349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59173" y="5691187"/>
            <a:ext cx="133349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59173" y="6891336"/>
            <a:ext cx="133349" cy="1333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59173" y="8091486"/>
            <a:ext cx="133349" cy="1333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165560" y="1742986"/>
            <a:ext cx="7112634" cy="7226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0"/>
              </a:spcBef>
              <a:tabLst>
                <a:tab pos="2346960" algn="l"/>
                <a:tab pos="3741420" algn="l"/>
                <a:tab pos="5974080" algn="l"/>
                <a:tab pos="6566534" algn="l"/>
              </a:tabLst>
            </a:pP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Aplicación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900" spc="195" dirty="0">
                <a:solidFill>
                  <a:srgbClr val="FFFFFF"/>
                </a:solidFill>
                <a:latin typeface="Tahoma"/>
                <a:cs typeface="Tahoma"/>
              </a:rPr>
              <a:t>móvil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900" spc="245" dirty="0">
                <a:solidFill>
                  <a:srgbClr val="FFFFFF"/>
                </a:solidFill>
                <a:latin typeface="Tahoma"/>
                <a:cs typeface="Tahoma"/>
              </a:rPr>
              <a:t>orientada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900" spc="-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900" spc="185" dirty="0">
                <a:solidFill>
                  <a:srgbClr val="FFFFFF"/>
                </a:solidFill>
                <a:latin typeface="Tahoma"/>
                <a:cs typeface="Tahoma"/>
              </a:rPr>
              <a:t>los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clientes.</a:t>
            </a:r>
            <a:endParaRPr sz="2900">
              <a:latin typeface="Tahoma"/>
              <a:cs typeface="Tahoma"/>
            </a:endParaRPr>
          </a:p>
          <a:p>
            <a:pPr marL="12700" marR="5080">
              <a:lnSpc>
                <a:spcPct val="135800"/>
              </a:lnSpc>
            </a:pP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Módulo</a:t>
            </a:r>
            <a:r>
              <a:rPr sz="2900" spc="10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sz="2900" spc="10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administrativo</a:t>
            </a:r>
            <a:r>
              <a:rPr sz="2900" spc="10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sz="2900" spc="10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90" dirty="0">
                <a:solidFill>
                  <a:srgbClr val="FFFFFF"/>
                </a:solidFill>
                <a:latin typeface="Tahoma"/>
                <a:cs typeface="Tahoma"/>
              </a:rPr>
              <a:t>la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del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0" dirty="0">
                <a:solidFill>
                  <a:srgbClr val="FFFFFF"/>
                </a:solidFill>
                <a:latin typeface="Tahoma"/>
                <a:cs typeface="Tahoma"/>
              </a:rPr>
              <a:t>negocio.</a:t>
            </a:r>
            <a:endParaRPr sz="2900">
              <a:latin typeface="Tahoma"/>
              <a:cs typeface="Tahoma"/>
            </a:endParaRPr>
          </a:p>
          <a:p>
            <a:pPr marL="12700" marR="5080">
              <a:lnSpc>
                <a:spcPct val="135800"/>
              </a:lnSpc>
            </a:pPr>
            <a:r>
              <a:rPr sz="2900" spc="265" dirty="0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sz="2900" spc="12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45" dirty="0">
                <a:solidFill>
                  <a:srgbClr val="FFFFFF"/>
                </a:solidFill>
                <a:latin typeface="Tahoma"/>
                <a:cs typeface="Tahoma"/>
              </a:rPr>
              <a:t>centralizada</a:t>
            </a:r>
            <a:r>
              <a:rPr sz="2900" spc="1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1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45" dirty="0">
                <a:solidFill>
                  <a:srgbClr val="FFFFFF"/>
                </a:solidFill>
                <a:latin typeface="Tahoma"/>
                <a:cs typeface="Tahoma"/>
              </a:rPr>
              <a:t>productos, </a:t>
            </a:r>
            <a:r>
              <a:rPr sz="2900" spc="170" dirty="0">
                <a:solidFill>
                  <a:srgbClr val="FFFFFF"/>
                </a:solidFill>
                <a:latin typeface="Tahoma"/>
                <a:cs typeface="Tahoma"/>
              </a:rPr>
              <a:t>stock,</a:t>
            </a:r>
            <a:r>
              <a:rPr sz="2900" spc="2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4" dirty="0">
                <a:solidFill>
                  <a:srgbClr val="FFFFFF"/>
                </a:solidFill>
                <a:latin typeface="Tahoma"/>
                <a:cs typeface="Tahoma"/>
              </a:rPr>
              <a:t>clientes,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ventas</a:t>
            </a:r>
            <a:r>
              <a:rPr sz="2900" spc="2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pedidos.</a:t>
            </a:r>
            <a:endParaRPr sz="2900">
              <a:latin typeface="Tahoma"/>
              <a:cs typeface="Tahoma"/>
            </a:endParaRPr>
          </a:p>
          <a:p>
            <a:pPr marL="12700" marR="5080">
              <a:lnSpc>
                <a:spcPct val="135800"/>
              </a:lnSpc>
            </a:pPr>
            <a:r>
              <a:rPr sz="2900" spc="280" dirty="0">
                <a:solidFill>
                  <a:srgbClr val="FFFFFF"/>
                </a:solidFill>
                <a:latin typeface="Tahoma"/>
                <a:cs typeface="Tahoma"/>
              </a:rPr>
              <a:t>Proceso</a:t>
            </a:r>
            <a:r>
              <a:rPr sz="29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75" dirty="0">
                <a:solidFill>
                  <a:srgbClr val="FFFFFF"/>
                </a:solidFill>
                <a:latin typeface="Tahoma"/>
                <a:cs typeface="Tahoma"/>
              </a:rPr>
              <a:t>compra</a:t>
            </a:r>
            <a:r>
              <a:rPr sz="29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mediante</a:t>
            </a:r>
            <a:r>
              <a:rPr sz="29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carrito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pago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65" dirty="0">
                <a:solidFill>
                  <a:srgbClr val="FFFFFF"/>
                </a:solidFill>
                <a:latin typeface="Tahoma"/>
                <a:cs typeface="Tahoma"/>
              </a:rPr>
              <a:t>digital.</a:t>
            </a:r>
            <a:endParaRPr sz="2900">
              <a:latin typeface="Tahoma"/>
              <a:cs typeface="Tahoma"/>
            </a:endParaRPr>
          </a:p>
          <a:p>
            <a:pPr marL="12700" marR="5080">
              <a:lnSpc>
                <a:spcPct val="135800"/>
              </a:lnSpc>
            </a:pP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Consulta</a:t>
            </a:r>
            <a:r>
              <a:rPr sz="2900" spc="-3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-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historial</a:t>
            </a:r>
            <a:r>
              <a:rPr sz="2900" spc="-3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-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seguimiento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compras.</a:t>
            </a:r>
            <a:endParaRPr sz="2900">
              <a:latin typeface="Tahoma"/>
              <a:cs typeface="Tahoma"/>
            </a:endParaRPr>
          </a:p>
          <a:p>
            <a:pPr marL="12700" marR="5080">
              <a:lnSpc>
                <a:spcPct val="135800"/>
              </a:lnSpc>
            </a:pPr>
            <a:r>
              <a:rPr sz="2900" spc="265" dirty="0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sz="2900" spc="2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reseñas</a:t>
            </a:r>
            <a:r>
              <a:rPr sz="29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calificaciones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productos.</a:t>
            </a:r>
            <a:endParaRPr sz="2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4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1927" y="118933"/>
            <a:ext cx="5222875" cy="98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20" dirty="0"/>
              <a:t>Objetivo</a:t>
            </a:r>
            <a:r>
              <a:rPr spc="-565" dirty="0"/>
              <a:t> </a:t>
            </a:r>
            <a:r>
              <a:rPr spc="-505" dirty="0"/>
              <a:t>General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6644" y="1097631"/>
            <a:ext cx="17166590" cy="8912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7490" marR="144145" algn="just">
              <a:lnSpc>
                <a:spcPct val="135800"/>
              </a:lnSpc>
              <a:spcBef>
                <a:spcPts val="90"/>
              </a:spcBef>
            </a:pP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Desarrollar</a:t>
            </a:r>
            <a:r>
              <a:rPr sz="2900" spc="6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sz="29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65" dirty="0">
                <a:solidFill>
                  <a:srgbClr val="FFFFFF"/>
                </a:solidFill>
                <a:latin typeface="Tahoma"/>
                <a:cs typeface="Tahoma"/>
              </a:rPr>
              <a:t>solución</a:t>
            </a:r>
            <a:r>
              <a:rPr sz="29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75" dirty="0">
                <a:solidFill>
                  <a:srgbClr val="FFFFFF"/>
                </a:solidFill>
                <a:latin typeface="Tahoma"/>
                <a:cs typeface="Tahoma"/>
              </a:rPr>
              <a:t>comercio</a:t>
            </a:r>
            <a:r>
              <a:rPr sz="29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electrónico</a:t>
            </a:r>
            <a:r>
              <a:rPr sz="29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sz="29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sz="29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emprendimiento</a:t>
            </a:r>
            <a:r>
              <a:rPr sz="2900" spc="6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6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frutos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secos</a:t>
            </a:r>
            <a:r>
              <a:rPr sz="2900" spc="4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sz="2900" spc="4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permita</a:t>
            </a:r>
            <a:r>
              <a:rPr sz="2900" spc="409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digitalizar</a:t>
            </a:r>
            <a:r>
              <a:rPr sz="2900" spc="4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145" dirty="0">
                <a:solidFill>
                  <a:srgbClr val="FFFFFF"/>
                </a:solidFill>
                <a:latin typeface="Tahoma"/>
                <a:cs typeface="Tahoma"/>
              </a:rPr>
              <a:t>el</a:t>
            </a:r>
            <a:r>
              <a:rPr sz="2900" spc="409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proceso</a:t>
            </a:r>
            <a:r>
              <a:rPr sz="2900" spc="4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4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185" dirty="0">
                <a:solidFill>
                  <a:srgbClr val="FFFFFF"/>
                </a:solidFill>
                <a:latin typeface="Tahoma"/>
                <a:cs typeface="Tahoma"/>
              </a:rPr>
              <a:t>venta</a:t>
            </a:r>
            <a:r>
              <a:rPr sz="2900" spc="409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4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centralizar</a:t>
            </a:r>
            <a:r>
              <a:rPr sz="2900" spc="409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114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900" spc="40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sz="2900" spc="409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900" spc="190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productos,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70" dirty="0">
                <a:solidFill>
                  <a:srgbClr val="FFFFFF"/>
                </a:solidFill>
                <a:latin typeface="Tahoma"/>
                <a:cs typeface="Tahoma"/>
              </a:rPr>
              <a:t>stock,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4" dirty="0">
                <a:solidFill>
                  <a:srgbClr val="FFFFFF"/>
                </a:solidFill>
                <a:latin typeface="Tahoma"/>
                <a:cs typeface="Tahoma"/>
              </a:rPr>
              <a:t>clientes,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ventas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pedidos.</a:t>
            </a:r>
            <a:endParaRPr sz="2900">
              <a:latin typeface="Tahoma"/>
              <a:cs typeface="Tahoma"/>
            </a:endParaRPr>
          </a:p>
          <a:p>
            <a:pPr marL="237490" algn="just">
              <a:lnSpc>
                <a:spcPct val="100000"/>
              </a:lnSpc>
              <a:spcBef>
                <a:spcPts val="1670"/>
              </a:spcBef>
            </a:pPr>
            <a:r>
              <a:rPr sz="6300" spc="-380" dirty="0">
                <a:solidFill>
                  <a:srgbClr val="FFFFFF"/>
                </a:solidFill>
                <a:latin typeface="Arial MT"/>
                <a:cs typeface="Arial MT"/>
              </a:rPr>
              <a:t>Objetivos</a:t>
            </a:r>
            <a:r>
              <a:rPr sz="6300" spc="-5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300" spc="-470" dirty="0">
                <a:solidFill>
                  <a:srgbClr val="FFFFFF"/>
                </a:solidFill>
                <a:latin typeface="Arial MT"/>
                <a:cs typeface="Arial MT"/>
              </a:rPr>
              <a:t>específicos</a:t>
            </a:r>
            <a:endParaRPr sz="6300">
              <a:latin typeface="Arial MT"/>
              <a:cs typeface="Arial MT"/>
            </a:endParaRPr>
          </a:p>
          <a:p>
            <a:pPr marL="415290" indent="-402590">
              <a:lnSpc>
                <a:spcPct val="100000"/>
              </a:lnSpc>
              <a:spcBef>
                <a:spcPts val="565"/>
              </a:spcBef>
              <a:buFont typeface="Trebuchet MS"/>
              <a:buAutoNum type="arabicPeriod"/>
              <a:tabLst>
                <a:tab pos="415290" algn="l"/>
              </a:tabLst>
            </a:pPr>
            <a:r>
              <a:rPr sz="2900" spc="245" dirty="0">
                <a:solidFill>
                  <a:srgbClr val="FFFFFF"/>
                </a:solidFill>
                <a:latin typeface="Tahoma"/>
                <a:cs typeface="Tahoma"/>
              </a:rPr>
              <a:t>Aplicación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50" dirty="0">
                <a:solidFill>
                  <a:srgbClr val="FFFFFF"/>
                </a:solidFill>
                <a:latin typeface="Tahoma"/>
                <a:cs typeface="Tahoma"/>
              </a:rPr>
              <a:t>móvil: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Desarrollar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45" dirty="0">
                <a:solidFill>
                  <a:srgbClr val="FFFFFF"/>
                </a:solidFill>
                <a:latin typeface="Tahoma"/>
                <a:cs typeface="Tahoma"/>
              </a:rPr>
              <a:t>aplicación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4" dirty="0">
                <a:solidFill>
                  <a:srgbClr val="FFFFFF"/>
                </a:solidFill>
                <a:latin typeface="Tahoma"/>
                <a:cs typeface="Tahoma"/>
              </a:rPr>
              <a:t>móvil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permita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consultar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productos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5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endParaRPr sz="2900">
              <a:latin typeface="Tahoma"/>
              <a:cs typeface="Tahoma"/>
            </a:endParaRPr>
          </a:p>
          <a:p>
            <a:pPr marL="416559">
              <a:lnSpc>
                <a:spcPct val="100000"/>
              </a:lnSpc>
              <a:spcBef>
                <a:spcPts val="1245"/>
              </a:spcBef>
            </a:pPr>
            <a:r>
              <a:rPr sz="2900" spc="229" dirty="0">
                <a:solidFill>
                  <a:srgbClr val="FFFFFF"/>
                </a:solidFill>
                <a:latin typeface="Tahoma"/>
                <a:cs typeface="Tahoma"/>
              </a:rPr>
              <a:t>realizar</a:t>
            </a:r>
            <a:r>
              <a:rPr sz="29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compras.</a:t>
            </a:r>
            <a:endParaRPr sz="2900">
              <a:latin typeface="Tahoma"/>
              <a:cs typeface="Tahoma"/>
            </a:endParaRPr>
          </a:p>
          <a:p>
            <a:pPr marL="414655" marR="211454" indent="-402590">
              <a:lnSpc>
                <a:spcPct val="135800"/>
              </a:lnSpc>
              <a:buFont typeface="Trebuchet MS"/>
              <a:buAutoNum type="arabicPeriod" startAt="2"/>
              <a:tabLst>
                <a:tab pos="416559" algn="l"/>
              </a:tabLst>
            </a:pPr>
            <a:r>
              <a:rPr sz="2900" spc="265" dirty="0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0" dirty="0">
                <a:solidFill>
                  <a:srgbClr val="FFFFFF"/>
                </a:solidFill>
                <a:latin typeface="Tahoma"/>
                <a:cs typeface="Tahoma"/>
              </a:rPr>
              <a:t>administrativa: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Implementar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90" dirty="0">
                <a:solidFill>
                  <a:srgbClr val="FFFFFF"/>
                </a:solidFill>
                <a:latin typeface="Tahoma"/>
                <a:cs typeface="Tahoma"/>
              </a:rPr>
              <a:t>módulo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gestionar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productos,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60" dirty="0">
                <a:solidFill>
                  <a:srgbClr val="FFFFFF"/>
                </a:solidFill>
                <a:latin typeface="Tahoma"/>
                <a:cs typeface="Tahoma"/>
              </a:rPr>
              <a:t>stock, 	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ventas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pedidos.</a:t>
            </a:r>
            <a:endParaRPr sz="2900">
              <a:latin typeface="Tahoma"/>
              <a:cs typeface="Tahoma"/>
            </a:endParaRPr>
          </a:p>
          <a:p>
            <a:pPr marL="414655" marR="5080" indent="-402590">
              <a:lnSpc>
                <a:spcPct val="135800"/>
              </a:lnSpc>
              <a:buFont typeface="Trebuchet MS"/>
              <a:buAutoNum type="arabicPeriod" startAt="2"/>
              <a:tabLst>
                <a:tab pos="416559" algn="l"/>
              </a:tabLst>
            </a:pP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Backend</a:t>
            </a:r>
            <a:r>
              <a:rPr sz="2900" spc="2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85" dirty="0">
                <a:solidFill>
                  <a:srgbClr val="FFFFFF"/>
                </a:solidFill>
                <a:latin typeface="Tahoma"/>
                <a:cs typeface="Tahoma"/>
              </a:rPr>
              <a:t>datos: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Desarrollar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9" dirty="0">
                <a:solidFill>
                  <a:srgbClr val="FFFFFF"/>
                </a:solidFill>
                <a:latin typeface="Tahoma"/>
                <a:cs typeface="Tahoma"/>
              </a:rPr>
              <a:t>servicios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backend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base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45" dirty="0">
                <a:solidFill>
                  <a:srgbClr val="FFFFFF"/>
                </a:solidFill>
                <a:latin typeface="Tahoma"/>
                <a:cs typeface="Tahoma"/>
              </a:rPr>
              <a:t>datos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centralizar</a:t>
            </a:r>
            <a:r>
              <a:rPr sz="29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Tahoma"/>
                <a:cs typeface="Tahoma"/>
              </a:rPr>
              <a:t>la 	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información</a:t>
            </a:r>
            <a:r>
              <a:rPr sz="2900" spc="3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del</a:t>
            </a:r>
            <a:r>
              <a:rPr sz="2900" spc="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sistema.</a:t>
            </a:r>
            <a:endParaRPr sz="2900">
              <a:latin typeface="Tahoma"/>
              <a:cs typeface="Tahoma"/>
            </a:endParaRPr>
          </a:p>
          <a:p>
            <a:pPr marL="415290" indent="-402590">
              <a:lnSpc>
                <a:spcPct val="100000"/>
              </a:lnSpc>
              <a:spcBef>
                <a:spcPts val="1245"/>
              </a:spcBef>
              <a:buFont typeface="Trebuchet MS"/>
              <a:buAutoNum type="arabicPeriod" startAt="2"/>
              <a:tabLst>
                <a:tab pos="415290" algn="l"/>
              </a:tabLst>
            </a:pPr>
            <a:r>
              <a:rPr sz="2900" spc="195" dirty="0">
                <a:solidFill>
                  <a:srgbClr val="FFFFFF"/>
                </a:solidFill>
                <a:latin typeface="Tahoma"/>
                <a:cs typeface="Tahoma"/>
              </a:rPr>
              <a:t>Integraciones:</a:t>
            </a:r>
            <a:r>
              <a:rPr sz="29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75" dirty="0">
                <a:solidFill>
                  <a:srgbClr val="FFFFFF"/>
                </a:solidFill>
                <a:latin typeface="Tahoma"/>
                <a:cs typeface="Tahoma"/>
              </a:rPr>
              <a:t>Integrar</a:t>
            </a:r>
            <a:r>
              <a:rPr sz="29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0" dirty="0">
                <a:solidFill>
                  <a:srgbClr val="FFFFFF"/>
                </a:solidFill>
                <a:latin typeface="Tahoma"/>
                <a:cs typeface="Tahoma"/>
              </a:rPr>
              <a:t>los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9" dirty="0">
                <a:solidFill>
                  <a:srgbClr val="FFFFFF"/>
                </a:solidFill>
                <a:latin typeface="Tahoma"/>
                <a:cs typeface="Tahoma"/>
              </a:rPr>
              <a:t>servicios</a:t>
            </a:r>
            <a:r>
              <a:rPr sz="29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necesarios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sz="29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pagos</a:t>
            </a:r>
            <a:r>
              <a:rPr sz="29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5" dirty="0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sz="29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4" dirty="0">
                <a:solidFill>
                  <a:srgbClr val="FFFFFF"/>
                </a:solidFill>
                <a:latin typeface="Tahoma"/>
                <a:cs typeface="Tahoma"/>
              </a:rPr>
              <a:t>imágenes.</a:t>
            </a:r>
            <a:endParaRPr sz="2900">
              <a:latin typeface="Tahoma"/>
              <a:cs typeface="Tahoma"/>
            </a:endParaRPr>
          </a:p>
          <a:p>
            <a:pPr marL="414655" marR="1267460" indent="-402590">
              <a:lnSpc>
                <a:spcPct val="135800"/>
              </a:lnSpc>
              <a:buFont typeface="Trebuchet MS"/>
              <a:buAutoNum type="arabicPeriod" startAt="2"/>
              <a:tabLst>
                <a:tab pos="416559" algn="l"/>
              </a:tabLst>
            </a:pPr>
            <a:r>
              <a:rPr sz="2900" spc="195" dirty="0">
                <a:solidFill>
                  <a:srgbClr val="FFFFFF"/>
                </a:solidFill>
                <a:latin typeface="Tahoma"/>
                <a:cs typeface="Tahoma"/>
              </a:rPr>
              <a:t>Calidad: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0" dirty="0">
                <a:solidFill>
                  <a:srgbClr val="FFFFFF"/>
                </a:solidFill>
                <a:latin typeface="Tahoma"/>
                <a:cs typeface="Tahoma"/>
              </a:rPr>
              <a:t>Realizar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75" dirty="0">
                <a:solidFill>
                  <a:srgbClr val="FFFFFF"/>
                </a:solidFill>
                <a:latin typeface="Tahoma"/>
                <a:cs typeface="Tahoma"/>
              </a:rPr>
              <a:t>pruebas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0" dirty="0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60" dirty="0">
                <a:solidFill>
                  <a:srgbClr val="FFFFFF"/>
                </a:solidFill>
                <a:latin typeface="Tahoma"/>
                <a:cs typeface="Tahoma"/>
              </a:rPr>
              <a:t>permitan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validar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45" dirty="0">
                <a:solidFill>
                  <a:srgbClr val="FFFFFF"/>
                </a:solidFill>
                <a:latin typeface="Tahoma"/>
                <a:cs typeface="Tahoma"/>
              </a:rPr>
              <a:t>el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65" dirty="0">
                <a:solidFill>
                  <a:srgbClr val="FFFFFF"/>
                </a:solidFill>
                <a:latin typeface="Tahoma"/>
                <a:cs typeface="Tahoma"/>
              </a:rPr>
              <a:t>correcto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65" dirty="0">
                <a:solidFill>
                  <a:srgbClr val="FFFFFF"/>
                </a:solidFill>
                <a:latin typeface="Tahoma"/>
                <a:cs typeface="Tahoma"/>
              </a:rPr>
              <a:t>funcionamiento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Tahoma"/>
                <a:cs typeface="Tahoma"/>
              </a:rPr>
              <a:t>la 	</a:t>
            </a:r>
            <a:r>
              <a:rPr sz="2900" spc="229" dirty="0">
                <a:solidFill>
                  <a:srgbClr val="FFFFFF"/>
                </a:solidFill>
                <a:latin typeface="Tahoma"/>
                <a:cs typeface="Tahoma"/>
              </a:rPr>
              <a:t>solución.</a:t>
            </a:r>
            <a:endParaRPr sz="2900">
              <a:latin typeface="Tahoma"/>
              <a:cs typeface="Tahoma"/>
            </a:endParaRPr>
          </a:p>
          <a:p>
            <a:pPr marL="415290" indent="-402590">
              <a:lnSpc>
                <a:spcPct val="100000"/>
              </a:lnSpc>
              <a:spcBef>
                <a:spcPts val="1240"/>
              </a:spcBef>
              <a:buFont typeface="Trebuchet MS"/>
              <a:buAutoNum type="arabicPeriod" startAt="2"/>
              <a:tabLst>
                <a:tab pos="415290" algn="l"/>
              </a:tabLst>
            </a:pPr>
            <a:r>
              <a:rPr sz="2900" spc="215" dirty="0">
                <a:solidFill>
                  <a:srgbClr val="FFFFFF"/>
                </a:solidFill>
                <a:latin typeface="Tahoma"/>
                <a:cs typeface="Tahoma"/>
              </a:rPr>
              <a:t>Despliegue: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35" dirty="0">
                <a:solidFill>
                  <a:srgbClr val="FFFFFF"/>
                </a:solidFill>
                <a:latin typeface="Tahoma"/>
                <a:cs typeface="Tahoma"/>
              </a:rPr>
              <a:t>Implementar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14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65" dirty="0">
                <a:solidFill>
                  <a:srgbClr val="FFFFFF"/>
                </a:solidFill>
                <a:latin typeface="Tahoma"/>
                <a:cs typeface="Tahoma"/>
              </a:rPr>
              <a:t>solución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00" dirty="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20" dirty="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ambiente</a:t>
            </a:r>
            <a:r>
              <a:rPr sz="2900" spc="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40" dirty="0">
                <a:solidFill>
                  <a:srgbClr val="FFFFFF"/>
                </a:solidFill>
                <a:latin typeface="Tahoma"/>
                <a:cs typeface="Tahoma"/>
              </a:rPr>
              <a:t>accesible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254" dirty="0">
                <a:solidFill>
                  <a:srgbClr val="FFFFFF"/>
                </a:solidFill>
                <a:latin typeface="Tahoma"/>
                <a:cs typeface="Tahoma"/>
              </a:rPr>
              <a:t>mediante</a:t>
            </a:r>
            <a:r>
              <a:rPr sz="2900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170" dirty="0">
                <a:solidFill>
                  <a:srgbClr val="FFFFFF"/>
                </a:solidFill>
                <a:latin typeface="Tahoma"/>
                <a:cs typeface="Tahoma"/>
              </a:rPr>
              <a:t>Internet.</a:t>
            </a:r>
            <a:endParaRPr sz="2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828" rIns="0" bIns="0" rtlCol="0">
            <a:spAutoFit/>
          </a:bodyPr>
          <a:lstStyle/>
          <a:p>
            <a:pPr marL="1463675">
              <a:lnSpc>
                <a:spcPct val="100000"/>
              </a:lnSpc>
              <a:spcBef>
                <a:spcPts val="95"/>
              </a:spcBef>
            </a:pPr>
            <a:r>
              <a:rPr spc="-540" dirty="0"/>
              <a:t>Plan</a:t>
            </a:r>
            <a:r>
              <a:rPr spc="-590" dirty="0"/>
              <a:t> </a:t>
            </a:r>
            <a:r>
              <a:rPr spc="-390" dirty="0"/>
              <a:t>de</a:t>
            </a:r>
            <a:r>
              <a:rPr spc="-585" dirty="0"/>
              <a:t> </a:t>
            </a:r>
            <a:r>
              <a:rPr spc="-355" dirty="0"/>
              <a:t>trabajo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14" y="3067208"/>
            <a:ext cx="133350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14" y="4248308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14" y="4838858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14" y="5429408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6814" y="1547767"/>
            <a:ext cx="5729605" cy="415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09345">
              <a:lnSpc>
                <a:spcPct val="133600"/>
              </a:lnSpc>
              <a:spcBef>
                <a:spcPts val="95"/>
              </a:spcBef>
            </a:pP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FASE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785" dirty="0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65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FFFFFF"/>
                </a:solidFill>
                <a:latin typeface="Trebuchet MS"/>
                <a:cs typeface="Trebuchet MS"/>
              </a:rPr>
              <a:t>Diseño </a:t>
            </a:r>
            <a:r>
              <a:rPr sz="2900" spc="155" dirty="0">
                <a:solidFill>
                  <a:srgbClr val="FFFFFF"/>
                </a:solidFill>
                <a:latin typeface="Trebuchet MS"/>
                <a:cs typeface="Trebuchet MS"/>
              </a:rPr>
              <a:t>Semanas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60" dirty="0">
                <a:solidFill>
                  <a:srgbClr val="FFFFFF"/>
                </a:solidFill>
                <a:latin typeface="Trebuchet MS"/>
                <a:cs typeface="Trebuchet MS"/>
              </a:rPr>
              <a:t>1–</a:t>
            </a:r>
            <a:r>
              <a:rPr sz="2900" spc="8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900">
              <a:latin typeface="Trebuchet MS"/>
              <a:cs typeface="Trebuchet MS"/>
            </a:endParaRPr>
          </a:p>
          <a:p>
            <a:pPr marL="645160" marR="291465">
              <a:lnSpc>
                <a:spcPct val="133600"/>
              </a:lnSpc>
            </a:pPr>
            <a:r>
              <a:rPr sz="2900" spc="65" dirty="0">
                <a:solidFill>
                  <a:srgbClr val="FFFFFF"/>
                </a:solidFill>
                <a:latin typeface="Trebuchet MS"/>
                <a:cs typeface="Trebuchet MS"/>
              </a:rPr>
              <a:t>Levantamiento</a:t>
            </a:r>
            <a:r>
              <a:rPr sz="29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9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29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900" spc="50" dirty="0">
                <a:solidFill>
                  <a:srgbClr val="FFFFFF"/>
                </a:solidFill>
                <a:latin typeface="Trebuchet MS"/>
                <a:cs typeface="Trebuchet MS"/>
              </a:rPr>
              <a:t>requerimientos.</a:t>
            </a:r>
            <a:endParaRPr sz="2900">
              <a:latin typeface="Trebuchet MS"/>
              <a:cs typeface="Trebuchet MS"/>
            </a:endParaRPr>
          </a:p>
          <a:p>
            <a:pPr marL="645160" marR="5080">
              <a:lnSpc>
                <a:spcPct val="133600"/>
              </a:lnSpc>
            </a:pPr>
            <a:r>
              <a:rPr sz="2900" spc="145" dirty="0">
                <a:solidFill>
                  <a:srgbClr val="FFFFFF"/>
                </a:solidFill>
                <a:latin typeface="Trebuchet MS"/>
                <a:cs typeface="Trebuchet MS"/>
              </a:rPr>
              <a:t>Diseño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Trebuchet MS"/>
                <a:cs typeface="Trebuchet MS"/>
              </a:rPr>
              <a:t>arquitectura. </a:t>
            </a:r>
            <a:r>
              <a:rPr sz="2900" spc="145" dirty="0">
                <a:solidFill>
                  <a:srgbClr val="FFFFFF"/>
                </a:solidFill>
                <a:latin typeface="Trebuchet MS"/>
                <a:cs typeface="Trebuchet MS"/>
              </a:rPr>
              <a:t>Diseño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25" dirty="0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Trebuchet MS"/>
                <a:cs typeface="Trebuchet MS"/>
              </a:rPr>
              <a:t>datos.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Inicio</a:t>
            </a:r>
            <a:r>
              <a:rPr sz="2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9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Trebuchet MS"/>
                <a:cs typeface="Trebuchet MS"/>
              </a:rPr>
              <a:t>desarrollo</a:t>
            </a:r>
            <a:r>
              <a:rPr sz="29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35" dirty="0">
                <a:solidFill>
                  <a:srgbClr val="FFFFFF"/>
                </a:solidFill>
                <a:latin typeface="Trebuchet MS"/>
                <a:cs typeface="Trebuchet MS"/>
              </a:rPr>
              <a:t>backend.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8984" y="3362483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8984" y="3953033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8984" y="4543583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8984" y="5134133"/>
            <a:ext cx="133350" cy="1333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731484" y="1843042"/>
            <a:ext cx="6764655" cy="3568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5"/>
              </a:spcBef>
            </a:pP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FASE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785" dirty="0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Desarrollo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FFFFFF"/>
                </a:solidFill>
                <a:latin typeface="Trebuchet MS"/>
                <a:cs typeface="Trebuchet MS"/>
              </a:rPr>
              <a:t>Implementación </a:t>
            </a:r>
            <a:r>
              <a:rPr sz="2900" spc="155" dirty="0">
                <a:solidFill>
                  <a:srgbClr val="FFFFFF"/>
                </a:solidFill>
                <a:latin typeface="Trebuchet MS"/>
                <a:cs typeface="Trebuchet MS"/>
              </a:rPr>
              <a:t>Semanas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60" dirty="0">
                <a:solidFill>
                  <a:srgbClr val="FFFFFF"/>
                </a:solidFill>
                <a:latin typeface="Trebuchet MS"/>
                <a:cs typeface="Trebuchet MS"/>
              </a:rPr>
              <a:t>5–</a:t>
            </a:r>
            <a:r>
              <a:rPr sz="2900" spc="105" dirty="0">
                <a:solidFill>
                  <a:srgbClr val="FFFFFF"/>
                </a:solidFill>
                <a:latin typeface="Trebuchet MS"/>
                <a:cs typeface="Trebuchet MS"/>
              </a:rPr>
              <a:t>15</a:t>
            </a:r>
            <a:endParaRPr sz="2900">
              <a:latin typeface="Trebuchet MS"/>
              <a:cs typeface="Trebuchet MS"/>
            </a:endParaRPr>
          </a:p>
          <a:p>
            <a:pPr marL="645160" marR="834390">
              <a:lnSpc>
                <a:spcPct val="133600"/>
              </a:lnSpc>
            </a:pP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Desarrollo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40" dirty="0">
                <a:solidFill>
                  <a:srgbClr val="FFFFFF"/>
                </a:solidFill>
                <a:latin typeface="Trebuchet MS"/>
                <a:cs typeface="Trebuchet MS"/>
              </a:rPr>
              <a:t>funcionalidades.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Aplicación</a:t>
            </a:r>
            <a:r>
              <a:rPr sz="2900" spc="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Trebuchet MS"/>
                <a:cs typeface="Trebuchet MS"/>
              </a:rPr>
              <a:t>móvil.</a:t>
            </a:r>
            <a:endParaRPr sz="2900">
              <a:latin typeface="Trebuchet MS"/>
              <a:cs typeface="Trebuchet MS"/>
            </a:endParaRPr>
          </a:p>
          <a:p>
            <a:pPr marL="645160" marR="1264920">
              <a:lnSpc>
                <a:spcPct val="133600"/>
              </a:lnSpc>
            </a:pPr>
            <a:r>
              <a:rPr sz="2900" spc="200" dirty="0">
                <a:solidFill>
                  <a:srgbClr val="FFFFFF"/>
                </a:solidFill>
                <a:latin typeface="Trebuchet MS"/>
                <a:cs typeface="Trebuchet MS"/>
              </a:rPr>
              <a:t>Módulo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00" dirty="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Trebuchet MS"/>
                <a:cs typeface="Trebuchet MS"/>
              </a:rPr>
              <a:t>administrativo. </a:t>
            </a:r>
            <a:r>
              <a:rPr sz="2900" spc="65" dirty="0">
                <a:solidFill>
                  <a:srgbClr val="FFFFFF"/>
                </a:solidFill>
                <a:latin typeface="Trebuchet MS"/>
                <a:cs typeface="Trebuchet MS"/>
              </a:rPr>
              <a:t>Integraciones</a:t>
            </a:r>
            <a:r>
              <a:rPr sz="29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9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FFFFFF"/>
                </a:solidFill>
                <a:latin typeface="Trebuchet MS"/>
                <a:cs typeface="Trebuchet MS"/>
              </a:rPr>
              <a:t>pruebas.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5029" y="7638670"/>
            <a:ext cx="133350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5029" y="8229220"/>
            <a:ext cx="133350" cy="1333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5029" y="8819770"/>
            <a:ext cx="133350" cy="1333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867529" y="6119229"/>
            <a:ext cx="5040630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5"/>
              </a:spcBef>
            </a:pP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FASE</a:t>
            </a:r>
            <a:r>
              <a:rPr sz="29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9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785" dirty="0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sz="29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Cierre</a:t>
            </a:r>
            <a:r>
              <a:rPr sz="29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9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50" dirty="0">
                <a:solidFill>
                  <a:srgbClr val="FFFFFF"/>
                </a:solidFill>
                <a:latin typeface="Trebuchet MS"/>
                <a:cs typeface="Trebuchet MS"/>
              </a:rPr>
              <a:t>Proyecto </a:t>
            </a:r>
            <a:r>
              <a:rPr sz="2900" spc="155" dirty="0">
                <a:solidFill>
                  <a:srgbClr val="FFFFFF"/>
                </a:solidFill>
                <a:latin typeface="Trebuchet MS"/>
                <a:cs typeface="Trebuchet MS"/>
              </a:rPr>
              <a:t>Semanas</a:t>
            </a:r>
            <a:r>
              <a:rPr sz="29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215" dirty="0">
                <a:solidFill>
                  <a:srgbClr val="FFFFFF"/>
                </a:solidFill>
                <a:latin typeface="Trebuchet MS"/>
                <a:cs typeface="Trebuchet MS"/>
              </a:rPr>
              <a:t>16–</a:t>
            </a:r>
            <a:r>
              <a:rPr sz="2900" spc="105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900">
              <a:latin typeface="Trebuchet MS"/>
              <a:cs typeface="Trebuchet MS"/>
            </a:endParaRPr>
          </a:p>
          <a:p>
            <a:pPr marL="645160" marR="41275">
              <a:lnSpc>
                <a:spcPct val="133600"/>
              </a:lnSpc>
            </a:pP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Validación</a:t>
            </a:r>
            <a:r>
              <a:rPr sz="29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9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40" dirty="0">
                <a:solidFill>
                  <a:srgbClr val="FFFFFF"/>
                </a:solidFill>
                <a:latin typeface="Trebuchet MS"/>
                <a:cs typeface="Trebuchet MS"/>
              </a:rPr>
              <a:t>solución. </a:t>
            </a:r>
            <a:r>
              <a:rPr sz="2900" spc="50" dirty="0">
                <a:solidFill>
                  <a:srgbClr val="FFFFFF"/>
                </a:solidFill>
                <a:latin typeface="Trebuchet MS"/>
                <a:cs typeface="Trebuchet MS"/>
              </a:rPr>
              <a:t>Despliegue.</a:t>
            </a:r>
            <a:endParaRPr sz="2900">
              <a:latin typeface="Trebuchet MS"/>
              <a:cs typeface="Trebuchet MS"/>
            </a:endParaRPr>
          </a:p>
          <a:p>
            <a:pPr marL="645160">
              <a:lnSpc>
                <a:spcPct val="100000"/>
              </a:lnSpc>
              <a:spcBef>
                <a:spcPts val="1170"/>
              </a:spcBef>
            </a:pP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Documentación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Trebuchet MS"/>
                <a:cs typeface="Trebuchet MS"/>
              </a:rPr>
              <a:t>cierre.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659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95"/>
              </a:spcBef>
            </a:pPr>
            <a:r>
              <a:rPr spc="-385" dirty="0"/>
              <a:t>Metodología</a:t>
            </a:r>
            <a:r>
              <a:rPr spc="-540" dirty="0"/>
              <a:t> </a:t>
            </a:r>
            <a:r>
              <a:rPr spc="-975" dirty="0"/>
              <a:t>SCRUM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3060" rIns="0" bIns="0" rtlCol="0">
            <a:spAutoFit/>
          </a:bodyPr>
          <a:lstStyle/>
          <a:p>
            <a:pPr marL="1845945">
              <a:lnSpc>
                <a:spcPct val="100000"/>
              </a:lnSpc>
              <a:spcBef>
                <a:spcPts val="750"/>
              </a:spcBef>
            </a:pPr>
            <a:r>
              <a:rPr spc="90" dirty="0"/>
              <a:t>Elementos</a:t>
            </a:r>
            <a:r>
              <a:rPr spc="-110" dirty="0"/>
              <a:t> </a:t>
            </a:r>
            <a:r>
              <a:rPr spc="40" dirty="0"/>
              <a:t>principales</a:t>
            </a:r>
          </a:p>
          <a:p>
            <a:pPr marL="1845945">
              <a:lnSpc>
                <a:spcPct val="100000"/>
              </a:lnSpc>
              <a:spcBef>
                <a:spcPts val="720"/>
              </a:spcBef>
            </a:pPr>
            <a:r>
              <a:rPr sz="3350" dirty="0">
                <a:latin typeface="Segoe UI Symbol"/>
                <a:cs typeface="Segoe UI Symbol"/>
              </a:rPr>
              <a:t>📋</a:t>
            </a:r>
            <a:r>
              <a:rPr sz="3350" spc="175" dirty="0">
                <a:latin typeface="Segoe UI Symbol"/>
                <a:cs typeface="Segoe UI Symbol"/>
              </a:rPr>
              <a:t> </a:t>
            </a:r>
            <a:r>
              <a:rPr spc="85" dirty="0"/>
              <a:t>Product</a:t>
            </a:r>
            <a:r>
              <a:rPr spc="-140" dirty="0"/>
              <a:t> </a:t>
            </a:r>
            <a:r>
              <a:rPr spc="65" dirty="0"/>
              <a:t>Backlog</a:t>
            </a:r>
            <a:endParaRPr sz="3350">
              <a:latin typeface="Segoe UI Symbol"/>
              <a:cs typeface="Segoe UI Symbol"/>
            </a:endParaRPr>
          </a:p>
          <a:p>
            <a:pPr marL="1942464">
              <a:lnSpc>
                <a:spcPct val="100000"/>
              </a:lnSpc>
              <a:spcBef>
                <a:spcPts val="1080"/>
              </a:spcBef>
            </a:pPr>
            <a:r>
              <a:rPr spc="75" dirty="0"/>
              <a:t>Historias</a:t>
            </a:r>
            <a:r>
              <a:rPr spc="-90" dirty="0"/>
              <a:t> </a:t>
            </a:r>
            <a:r>
              <a:rPr spc="110" dirty="0"/>
              <a:t>de</a:t>
            </a:r>
            <a:r>
              <a:rPr spc="-90" dirty="0"/>
              <a:t> </a:t>
            </a:r>
            <a:r>
              <a:rPr spc="120" dirty="0"/>
              <a:t>usuario</a:t>
            </a:r>
            <a:r>
              <a:rPr spc="-85" dirty="0"/>
              <a:t> </a:t>
            </a:r>
            <a:r>
              <a:rPr spc="75" dirty="0"/>
              <a:t>priorizadas</a:t>
            </a:r>
            <a:r>
              <a:rPr spc="-90" dirty="0"/>
              <a:t> </a:t>
            </a:r>
            <a:r>
              <a:rPr spc="155" dirty="0"/>
              <a:t>según</a:t>
            </a:r>
            <a:r>
              <a:rPr spc="-85" dirty="0"/>
              <a:t> </a:t>
            </a:r>
            <a:r>
              <a:rPr spc="60" dirty="0"/>
              <a:t>las</a:t>
            </a:r>
            <a:r>
              <a:rPr spc="-90" dirty="0"/>
              <a:t> </a:t>
            </a:r>
            <a:r>
              <a:rPr spc="90" dirty="0"/>
              <a:t>necesidades</a:t>
            </a:r>
            <a:r>
              <a:rPr spc="-85" dirty="0"/>
              <a:t> </a:t>
            </a:r>
            <a:r>
              <a:rPr dirty="0"/>
              <a:t>del</a:t>
            </a:r>
            <a:r>
              <a:rPr spc="-90" dirty="0"/>
              <a:t> </a:t>
            </a:r>
            <a:r>
              <a:rPr spc="-10" dirty="0"/>
              <a:t>proyecto.</a:t>
            </a:r>
          </a:p>
          <a:p>
            <a:pPr marL="1845945">
              <a:lnSpc>
                <a:spcPct val="100000"/>
              </a:lnSpc>
              <a:spcBef>
                <a:spcPts val="720"/>
              </a:spcBef>
            </a:pPr>
            <a:r>
              <a:rPr sz="3350" spc="400" dirty="0">
                <a:latin typeface="Segoe UI Symbol"/>
                <a:cs typeface="Segoe UI Symbol"/>
              </a:rPr>
              <a:t>🔄</a:t>
            </a:r>
            <a:r>
              <a:rPr sz="3350" spc="-260" dirty="0">
                <a:latin typeface="Segoe UI Symbol"/>
                <a:cs typeface="Segoe UI Symbol"/>
              </a:rPr>
              <a:t> </a:t>
            </a:r>
            <a:r>
              <a:rPr spc="85" dirty="0"/>
              <a:t>Sprints</a:t>
            </a:r>
            <a:r>
              <a:rPr spc="-105" dirty="0"/>
              <a:t> </a:t>
            </a:r>
            <a:r>
              <a:rPr spc="110" dirty="0"/>
              <a:t>de</a:t>
            </a:r>
            <a:r>
              <a:rPr spc="-110" dirty="0"/>
              <a:t> </a:t>
            </a:r>
            <a:r>
              <a:rPr spc="135" dirty="0"/>
              <a:t>2</a:t>
            </a:r>
            <a:r>
              <a:rPr spc="-105" dirty="0"/>
              <a:t> </a:t>
            </a:r>
            <a:r>
              <a:rPr spc="145" dirty="0"/>
              <a:t>semanas</a:t>
            </a:r>
            <a:endParaRPr sz="3350">
              <a:latin typeface="Segoe UI Symbol"/>
              <a:cs typeface="Segoe UI Symbol"/>
            </a:endParaRPr>
          </a:p>
          <a:p>
            <a:pPr marL="1942464">
              <a:lnSpc>
                <a:spcPct val="100000"/>
              </a:lnSpc>
              <a:spcBef>
                <a:spcPts val="1080"/>
              </a:spcBef>
            </a:pPr>
            <a:r>
              <a:rPr spc="95" dirty="0"/>
              <a:t>Desarrollo</a:t>
            </a:r>
            <a:r>
              <a:rPr spc="-100" dirty="0"/>
              <a:t> </a:t>
            </a:r>
            <a:r>
              <a:rPr spc="50" dirty="0"/>
              <a:t>incremental</a:t>
            </a:r>
            <a:r>
              <a:rPr spc="-100" dirty="0"/>
              <a:t> </a:t>
            </a:r>
            <a:r>
              <a:rPr spc="110" dirty="0"/>
              <a:t>de</a:t>
            </a:r>
            <a:r>
              <a:rPr spc="-95" dirty="0"/>
              <a:t> </a:t>
            </a:r>
            <a:r>
              <a:rPr spc="60" dirty="0"/>
              <a:t>las</a:t>
            </a:r>
            <a:r>
              <a:rPr spc="-100" dirty="0"/>
              <a:t> </a:t>
            </a:r>
            <a:r>
              <a:rPr spc="70" dirty="0"/>
              <a:t>funcionalidades</a:t>
            </a:r>
            <a:r>
              <a:rPr spc="-95" dirty="0"/>
              <a:t> </a:t>
            </a:r>
            <a:r>
              <a:rPr spc="-10" dirty="0"/>
              <a:t>planificadas.</a:t>
            </a:r>
          </a:p>
          <a:p>
            <a:pPr marL="1845945">
              <a:lnSpc>
                <a:spcPct val="100000"/>
              </a:lnSpc>
              <a:spcBef>
                <a:spcPts val="720"/>
              </a:spcBef>
            </a:pPr>
            <a:r>
              <a:rPr sz="3350" spc="400" dirty="0">
                <a:latin typeface="Segoe UI Symbol"/>
                <a:cs typeface="Segoe UI Symbol"/>
              </a:rPr>
              <a:t>📌</a:t>
            </a:r>
            <a:r>
              <a:rPr sz="3350" spc="-175" dirty="0">
                <a:latin typeface="Segoe UI Symbol"/>
                <a:cs typeface="Segoe UI Symbol"/>
              </a:rPr>
              <a:t> </a:t>
            </a:r>
            <a:r>
              <a:rPr dirty="0"/>
              <a:t>Planificación</a:t>
            </a:r>
            <a:r>
              <a:rPr spc="5" dirty="0"/>
              <a:t> </a:t>
            </a:r>
            <a:r>
              <a:rPr dirty="0"/>
              <a:t>y</a:t>
            </a:r>
            <a:r>
              <a:rPr spc="10" dirty="0"/>
              <a:t> </a:t>
            </a:r>
            <a:r>
              <a:rPr spc="80" dirty="0"/>
              <a:t>seguimiento</a:t>
            </a:r>
            <a:endParaRPr sz="3350">
              <a:latin typeface="Segoe UI Symbol"/>
              <a:cs typeface="Segoe UI Symbol"/>
            </a:endParaRPr>
          </a:p>
          <a:p>
            <a:pPr marL="1942464">
              <a:lnSpc>
                <a:spcPct val="100000"/>
              </a:lnSpc>
              <a:spcBef>
                <a:spcPts val="1080"/>
              </a:spcBef>
            </a:pPr>
            <a:r>
              <a:rPr spc="80" dirty="0"/>
              <a:t>Organización</a:t>
            </a:r>
            <a:r>
              <a:rPr spc="-95" dirty="0"/>
              <a:t> </a:t>
            </a:r>
            <a:r>
              <a:rPr dirty="0"/>
              <a:t>y</a:t>
            </a:r>
            <a:r>
              <a:rPr spc="-95" dirty="0"/>
              <a:t> </a:t>
            </a:r>
            <a:r>
              <a:rPr spc="50" dirty="0"/>
              <a:t>control</a:t>
            </a:r>
            <a:r>
              <a:rPr spc="-95" dirty="0"/>
              <a:t> </a:t>
            </a:r>
            <a:r>
              <a:rPr spc="110" dirty="0"/>
              <a:t>de</a:t>
            </a:r>
            <a:r>
              <a:rPr spc="-95" dirty="0"/>
              <a:t> </a:t>
            </a:r>
            <a:r>
              <a:rPr spc="60" dirty="0"/>
              <a:t>las</a:t>
            </a:r>
            <a:r>
              <a:rPr spc="-95" dirty="0"/>
              <a:t> </a:t>
            </a:r>
            <a:r>
              <a:rPr spc="60" dirty="0"/>
              <a:t>tareas</a:t>
            </a:r>
            <a:r>
              <a:rPr spc="-95" dirty="0"/>
              <a:t> </a:t>
            </a:r>
            <a:r>
              <a:rPr spc="75" dirty="0"/>
              <a:t>mediante</a:t>
            </a:r>
            <a:r>
              <a:rPr spc="-95" dirty="0"/>
              <a:t> </a:t>
            </a:r>
            <a:r>
              <a:rPr spc="-10" dirty="0"/>
              <a:t>Jira.</a:t>
            </a:r>
          </a:p>
          <a:p>
            <a:pPr marL="1845945">
              <a:lnSpc>
                <a:spcPct val="100000"/>
              </a:lnSpc>
              <a:spcBef>
                <a:spcPts val="720"/>
              </a:spcBef>
            </a:pPr>
            <a:r>
              <a:rPr sz="3350" spc="400" dirty="0">
                <a:latin typeface="Segoe UI Symbol"/>
                <a:cs typeface="Segoe UI Symbol"/>
              </a:rPr>
              <a:t>✅</a:t>
            </a:r>
            <a:r>
              <a:rPr sz="3350" spc="-265" dirty="0">
                <a:latin typeface="Segoe UI Symbol"/>
                <a:cs typeface="Segoe UI Symbol"/>
              </a:rPr>
              <a:t> </a:t>
            </a:r>
            <a:r>
              <a:rPr spc="70" dirty="0"/>
              <a:t>Revisión</a:t>
            </a:r>
            <a:r>
              <a:rPr spc="-90" dirty="0"/>
              <a:t> </a:t>
            </a:r>
            <a:r>
              <a:rPr dirty="0"/>
              <a:t>y</a:t>
            </a:r>
            <a:r>
              <a:rPr spc="-90" dirty="0"/>
              <a:t> </a:t>
            </a:r>
            <a:r>
              <a:rPr spc="45" dirty="0"/>
              <a:t>mejora</a:t>
            </a:r>
            <a:endParaRPr sz="3350">
              <a:latin typeface="Segoe UI Symbol"/>
              <a:cs typeface="Segoe UI Symbol"/>
            </a:endParaRPr>
          </a:p>
          <a:p>
            <a:pPr marL="1942464">
              <a:lnSpc>
                <a:spcPct val="100000"/>
              </a:lnSpc>
              <a:spcBef>
                <a:spcPts val="1080"/>
              </a:spcBef>
            </a:pPr>
            <a:r>
              <a:rPr dirty="0"/>
              <a:t>Validación</a:t>
            </a:r>
            <a:r>
              <a:rPr spc="-30" dirty="0"/>
              <a:t> </a:t>
            </a:r>
            <a:r>
              <a:rPr spc="110" dirty="0"/>
              <a:t>de</a:t>
            </a:r>
            <a:r>
              <a:rPr spc="-25" dirty="0"/>
              <a:t> </a:t>
            </a:r>
            <a:r>
              <a:rPr spc="95" dirty="0"/>
              <a:t>los</a:t>
            </a:r>
            <a:r>
              <a:rPr spc="-25" dirty="0"/>
              <a:t> </a:t>
            </a:r>
            <a:r>
              <a:rPr spc="85" dirty="0"/>
              <a:t>avances</a:t>
            </a:r>
            <a:r>
              <a:rPr spc="-30" dirty="0"/>
              <a:t> </a:t>
            </a:r>
            <a:r>
              <a:rPr dirty="0"/>
              <a:t>y</a:t>
            </a:r>
            <a:r>
              <a:rPr spc="-25" dirty="0"/>
              <a:t> </a:t>
            </a:r>
            <a:r>
              <a:rPr dirty="0"/>
              <a:t>ajustes</a:t>
            </a:r>
            <a:r>
              <a:rPr spc="-25" dirty="0"/>
              <a:t> </a:t>
            </a:r>
            <a:r>
              <a:rPr spc="100" dirty="0"/>
              <a:t>para</a:t>
            </a:r>
            <a:r>
              <a:rPr spc="-30" dirty="0"/>
              <a:t> </a:t>
            </a:r>
            <a:r>
              <a:rPr spc="60" dirty="0"/>
              <a:t>las</a:t>
            </a:r>
            <a:r>
              <a:rPr spc="-25" dirty="0"/>
              <a:t> </a:t>
            </a:r>
            <a:r>
              <a:rPr spc="70" dirty="0"/>
              <a:t>siguientes</a:t>
            </a:r>
            <a:r>
              <a:rPr spc="-25" dirty="0"/>
              <a:t> </a:t>
            </a:r>
            <a:r>
              <a:rPr spc="-10" dirty="0"/>
              <a:t>iteraciones.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659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95"/>
              </a:spcBef>
            </a:pPr>
            <a:r>
              <a:rPr spc="-530" dirty="0"/>
              <a:t>Tecnologías</a:t>
            </a:r>
            <a:r>
              <a:rPr spc="-590" dirty="0"/>
              <a:t> </a:t>
            </a:r>
            <a:r>
              <a:rPr spc="-700" dirty="0"/>
              <a:t>a</a:t>
            </a:r>
            <a:r>
              <a:rPr spc="-585" dirty="0"/>
              <a:t> </a:t>
            </a:r>
            <a:r>
              <a:rPr spc="-300" dirty="0"/>
              <a:t>utilizar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924" y="3995263"/>
            <a:ext cx="133350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924" y="4585813"/>
            <a:ext cx="133350" cy="1333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6424" y="2414765"/>
            <a:ext cx="3643629" cy="244919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825500">
              <a:lnSpc>
                <a:spcPct val="126899"/>
              </a:lnSpc>
              <a:spcBef>
                <a:spcPts val="210"/>
              </a:spcBef>
            </a:pPr>
            <a:r>
              <a:rPr sz="3350" spc="-505" dirty="0">
                <a:solidFill>
                  <a:srgbClr val="FFFFFF"/>
                </a:solidFill>
                <a:latin typeface="Segoe UI Symbol"/>
                <a:cs typeface="Segoe UI Symbol"/>
              </a:rPr>
              <a:t>📱</a:t>
            </a:r>
            <a:r>
              <a:rPr sz="3350" spc="62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Trebuchet MS"/>
                <a:cs typeface="Trebuchet MS"/>
              </a:rPr>
              <a:t>Frontend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Aplicación</a:t>
            </a:r>
            <a:r>
              <a:rPr sz="2900" spc="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45" dirty="0">
                <a:solidFill>
                  <a:srgbClr val="FFFFFF"/>
                </a:solidFill>
                <a:latin typeface="Trebuchet MS"/>
                <a:cs typeface="Trebuchet MS"/>
              </a:rPr>
              <a:t>móvil</a:t>
            </a:r>
            <a:endParaRPr sz="2900">
              <a:latin typeface="Trebuchet MS"/>
              <a:cs typeface="Trebuchet MS"/>
            </a:endParaRPr>
          </a:p>
          <a:p>
            <a:pPr marL="645160">
              <a:lnSpc>
                <a:spcPct val="100000"/>
              </a:lnSpc>
              <a:spcBef>
                <a:spcPts val="1170"/>
              </a:spcBef>
            </a:pPr>
            <a:r>
              <a:rPr sz="2900" spc="-10" dirty="0">
                <a:solidFill>
                  <a:srgbClr val="FFFFFF"/>
                </a:solidFill>
                <a:latin typeface="Trebuchet MS"/>
                <a:cs typeface="Trebuchet MS"/>
              </a:rPr>
              <a:t>Kotlin</a:t>
            </a:r>
            <a:endParaRPr sz="2900">
              <a:latin typeface="Trebuchet MS"/>
              <a:cs typeface="Trebuchet MS"/>
            </a:endParaRPr>
          </a:p>
          <a:p>
            <a:pPr marL="645160">
              <a:lnSpc>
                <a:spcPct val="100000"/>
              </a:lnSpc>
              <a:spcBef>
                <a:spcPts val="1170"/>
              </a:spcBef>
            </a:pPr>
            <a:r>
              <a:rPr sz="2900" spc="-60" dirty="0">
                <a:solidFill>
                  <a:srgbClr val="FFFFFF"/>
                </a:solidFill>
                <a:latin typeface="Trebuchet MS"/>
                <a:cs typeface="Trebuchet MS"/>
              </a:rPr>
              <a:t>Jetpack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60" dirty="0">
                <a:solidFill>
                  <a:srgbClr val="FFFFFF"/>
                </a:solidFill>
                <a:latin typeface="Trebuchet MS"/>
                <a:cs typeface="Trebuchet MS"/>
              </a:rPr>
              <a:t>Compose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924" y="6856735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924" y="7447285"/>
            <a:ext cx="133350" cy="1333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6424" y="5927844"/>
            <a:ext cx="3517900" cy="1797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5160" marR="5080" indent="-633095">
              <a:lnSpc>
                <a:spcPct val="133600"/>
              </a:lnSpc>
              <a:spcBef>
                <a:spcPts val="95"/>
              </a:spcBef>
            </a:pPr>
            <a:r>
              <a:rPr sz="2900" spc="75" dirty="0">
                <a:solidFill>
                  <a:srgbClr val="FFFFFF"/>
                </a:solidFill>
                <a:latin typeface="Trebuchet MS"/>
                <a:cs typeface="Trebuchet MS"/>
              </a:rPr>
              <a:t>Administración</a:t>
            </a:r>
            <a:r>
              <a:rPr sz="29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20" dirty="0">
                <a:solidFill>
                  <a:srgbClr val="FFFFFF"/>
                </a:solidFill>
                <a:latin typeface="Trebuchet MS"/>
                <a:cs typeface="Trebuchet MS"/>
              </a:rPr>
              <a:t>Web </a:t>
            </a:r>
            <a:r>
              <a:rPr sz="2900" spc="-20" dirty="0">
                <a:solidFill>
                  <a:srgbClr val="FFFFFF"/>
                </a:solidFill>
                <a:latin typeface="Trebuchet MS"/>
                <a:cs typeface="Trebuchet MS"/>
              </a:rPr>
              <a:t>React</a:t>
            </a:r>
            <a:endParaRPr sz="2900">
              <a:latin typeface="Trebuchet MS"/>
              <a:cs typeface="Trebuchet MS"/>
            </a:endParaRPr>
          </a:p>
          <a:p>
            <a:pPr marL="645160">
              <a:lnSpc>
                <a:spcPct val="100000"/>
              </a:lnSpc>
              <a:spcBef>
                <a:spcPts val="1170"/>
              </a:spcBef>
            </a:pPr>
            <a:r>
              <a:rPr sz="2900" spc="-10" dirty="0">
                <a:solidFill>
                  <a:srgbClr val="FFFFFF"/>
                </a:solidFill>
                <a:latin typeface="Trebuchet MS"/>
                <a:cs typeface="Trebuchet MS"/>
              </a:rPr>
              <a:t>JavaScript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799" y="6561460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799" y="7152010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799" y="7742559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799" y="8333109"/>
            <a:ext cx="133350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799" y="8923659"/>
            <a:ext cx="133350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799" y="9514209"/>
            <a:ext cx="133350" cy="1333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131300" y="5570827"/>
            <a:ext cx="3877310" cy="42214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45160" marR="911225" indent="-633095">
              <a:lnSpc>
                <a:spcPct val="130200"/>
              </a:lnSpc>
              <a:spcBef>
                <a:spcPts val="85"/>
              </a:spcBef>
            </a:pPr>
            <a:r>
              <a:rPr sz="3350" spc="400" dirty="0">
                <a:solidFill>
                  <a:srgbClr val="FFFFFF"/>
                </a:solidFill>
                <a:latin typeface="Segoe UI Symbol"/>
                <a:cs typeface="Segoe UI Symbol"/>
              </a:rPr>
              <a:t>🛠</a:t>
            </a:r>
            <a:r>
              <a:rPr sz="3350" spc="-26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Trebuchet MS"/>
                <a:cs typeface="Trebuchet MS"/>
              </a:rPr>
              <a:t>Herramientas </a:t>
            </a:r>
            <a:r>
              <a:rPr sz="2900" dirty="0">
                <a:solidFill>
                  <a:srgbClr val="FFFFFF"/>
                </a:solidFill>
                <a:latin typeface="Trebuchet MS"/>
                <a:cs typeface="Trebuchet MS"/>
              </a:rPr>
              <a:t>Git</a:t>
            </a:r>
            <a:r>
              <a:rPr sz="29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-459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9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Trebuchet MS"/>
                <a:cs typeface="Trebuchet MS"/>
              </a:rPr>
              <a:t>GitHub </a:t>
            </a:r>
            <a:r>
              <a:rPr sz="2900" spc="-20" dirty="0">
                <a:solidFill>
                  <a:srgbClr val="FFFFFF"/>
                </a:solidFill>
                <a:latin typeface="Trebuchet MS"/>
                <a:cs typeface="Trebuchet MS"/>
              </a:rPr>
              <a:t>Jira</a:t>
            </a:r>
            <a:endParaRPr sz="2900">
              <a:latin typeface="Trebuchet MS"/>
              <a:cs typeface="Trebuchet MS"/>
            </a:endParaRPr>
          </a:p>
          <a:p>
            <a:pPr marL="645160" marR="629285">
              <a:lnSpc>
                <a:spcPct val="133600"/>
              </a:lnSpc>
            </a:pPr>
            <a:r>
              <a:rPr sz="2900" spc="130" dirty="0">
                <a:solidFill>
                  <a:srgbClr val="FFFFFF"/>
                </a:solidFill>
                <a:latin typeface="Trebuchet MS"/>
                <a:cs typeface="Trebuchet MS"/>
              </a:rPr>
              <a:t>Postman </a:t>
            </a:r>
            <a:r>
              <a:rPr sz="2900" spc="105" dirty="0">
                <a:solidFill>
                  <a:srgbClr val="FFFFFF"/>
                </a:solidFill>
                <a:latin typeface="Trebuchet MS"/>
                <a:cs typeface="Trebuchet MS"/>
              </a:rPr>
              <a:t>DBeaver </a:t>
            </a:r>
            <a:r>
              <a:rPr sz="2900" spc="120" dirty="0">
                <a:solidFill>
                  <a:srgbClr val="FFFFFF"/>
                </a:solidFill>
                <a:latin typeface="Trebuchet MS"/>
                <a:cs typeface="Trebuchet MS"/>
              </a:rPr>
              <a:t>Android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Trebuchet MS"/>
                <a:cs typeface="Trebuchet MS"/>
              </a:rPr>
              <a:t>Studio</a:t>
            </a:r>
            <a:endParaRPr sz="2900">
              <a:latin typeface="Trebuchet MS"/>
              <a:cs typeface="Trebuchet MS"/>
            </a:endParaRPr>
          </a:p>
          <a:p>
            <a:pPr marL="645160">
              <a:lnSpc>
                <a:spcPct val="100000"/>
              </a:lnSpc>
              <a:spcBef>
                <a:spcPts val="1170"/>
              </a:spcBef>
            </a:pPr>
            <a:r>
              <a:rPr sz="2900" spc="50" dirty="0">
                <a:solidFill>
                  <a:srgbClr val="FFFFFF"/>
                </a:solidFill>
                <a:latin typeface="Trebuchet MS"/>
                <a:cs typeface="Trebuchet MS"/>
              </a:rPr>
              <a:t>Visual</a:t>
            </a:r>
            <a:r>
              <a:rPr sz="29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Trebuchet MS"/>
                <a:cs typeface="Trebuchet MS"/>
              </a:rPr>
              <a:t>Studio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05" dirty="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54012" y="3466372"/>
            <a:ext cx="133350" cy="1333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54012" y="4056922"/>
            <a:ext cx="133350" cy="1333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136512" y="2475739"/>
            <a:ext cx="3982085" cy="18592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45160" marR="5080" indent="-633095">
              <a:lnSpc>
                <a:spcPct val="130200"/>
              </a:lnSpc>
              <a:spcBef>
                <a:spcPts val="85"/>
              </a:spcBef>
            </a:pPr>
            <a:r>
              <a:rPr sz="3350" spc="400" dirty="0">
                <a:solidFill>
                  <a:srgbClr val="FFFFFF"/>
                </a:solidFill>
                <a:latin typeface="Segoe UI Symbol"/>
                <a:cs typeface="Segoe UI Symbol"/>
              </a:rPr>
              <a:t>🔗</a:t>
            </a:r>
            <a:r>
              <a:rPr sz="3350" spc="-26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900" spc="55" dirty="0">
                <a:solidFill>
                  <a:srgbClr val="FFFFFF"/>
                </a:solidFill>
                <a:latin typeface="Trebuchet MS"/>
                <a:cs typeface="Trebuchet MS"/>
              </a:rPr>
              <a:t>Integraciones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Transbank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Webpay </a:t>
            </a:r>
            <a:r>
              <a:rPr sz="2900" spc="70" dirty="0">
                <a:solidFill>
                  <a:srgbClr val="FFFFFF"/>
                </a:solidFill>
                <a:latin typeface="Trebuchet MS"/>
                <a:cs typeface="Trebuchet MS"/>
              </a:rPr>
              <a:t>Cloudinary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0449" y="3466372"/>
            <a:ext cx="133350" cy="1333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0449" y="4056922"/>
            <a:ext cx="133350" cy="1333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0449" y="4647472"/>
            <a:ext cx="133350" cy="1333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20449" y="5238022"/>
            <a:ext cx="133350" cy="13334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602949" y="2475739"/>
            <a:ext cx="2682875" cy="3040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645160" marR="617220" indent="-633095">
              <a:lnSpc>
                <a:spcPct val="126899"/>
              </a:lnSpc>
              <a:spcBef>
                <a:spcPts val="215"/>
              </a:spcBef>
            </a:pPr>
            <a:r>
              <a:rPr sz="3350" spc="900" dirty="0">
                <a:solidFill>
                  <a:srgbClr val="FFFFFF"/>
                </a:solidFill>
                <a:latin typeface="Segoe UI Symbol"/>
                <a:cs typeface="Segoe UI Symbol"/>
              </a:rPr>
              <a:t>⚙</a:t>
            </a:r>
            <a:r>
              <a:rPr sz="3350" spc="-26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Backend </a:t>
            </a:r>
            <a:r>
              <a:rPr sz="2900" spc="-20" dirty="0">
                <a:solidFill>
                  <a:srgbClr val="FFFFFF"/>
                </a:solidFill>
                <a:latin typeface="Trebuchet MS"/>
                <a:cs typeface="Trebuchet MS"/>
              </a:rPr>
              <a:t>Java</a:t>
            </a:r>
            <a:endParaRPr sz="2900">
              <a:latin typeface="Trebuchet MS"/>
              <a:cs typeface="Trebuchet MS"/>
            </a:endParaRPr>
          </a:p>
          <a:p>
            <a:pPr marL="645160" marR="5080">
              <a:lnSpc>
                <a:spcPct val="133600"/>
              </a:lnSpc>
              <a:spcBef>
                <a:spcPts val="5"/>
              </a:spcBef>
            </a:pP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Spring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05" dirty="0">
                <a:solidFill>
                  <a:srgbClr val="FFFFFF"/>
                </a:solidFill>
                <a:latin typeface="Trebuchet MS"/>
                <a:cs typeface="Trebuchet MS"/>
              </a:rPr>
              <a:t>Boot </a:t>
            </a:r>
            <a:r>
              <a:rPr sz="2900" spc="114" dirty="0">
                <a:solidFill>
                  <a:srgbClr val="FFFFFF"/>
                </a:solidFill>
                <a:latin typeface="Trebuchet MS"/>
                <a:cs typeface="Trebuchet MS"/>
              </a:rPr>
              <a:t>APIs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50" dirty="0">
                <a:solidFill>
                  <a:srgbClr val="FFFFFF"/>
                </a:solidFill>
                <a:latin typeface="Trebuchet MS"/>
                <a:cs typeface="Trebuchet MS"/>
              </a:rPr>
              <a:t>REST</a:t>
            </a:r>
            <a:endParaRPr sz="2900">
              <a:latin typeface="Trebuchet MS"/>
              <a:cs typeface="Trebuchet MS"/>
            </a:endParaRPr>
          </a:p>
          <a:p>
            <a:pPr marL="645160">
              <a:lnSpc>
                <a:spcPct val="100000"/>
              </a:lnSpc>
              <a:spcBef>
                <a:spcPts val="1170"/>
              </a:spcBef>
            </a:pPr>
            <a:r>
              <a:rPr sz="2900" spc="170" dirty="0">
                <a:solidFill>
                  <a:srgbClr val="FFFFFF"/>
                </a:solidFill>
                <a:latin typeface="Trebuchet MS"/>
                <a:cs typeface="Trebuchet MS"/>
              </a:rPr>
              <a:t>Maven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33859" y="3404713"/>
            <a:ext cx="133350" cy="1333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33859" y="3995263"/>
            <a:ext cx="133350" cy="1333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33859" y="4585813"/>
            <a:ext cx="133350" cy="1333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33859" y="5766913"/>
            <a:ext cx="133350" cy="13334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3616359" y="2414080"/>
            <a:ext cx="4159250" cy="422148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645160" marR="5080" indent="-633095">
              <a:lnSpc>
                <a:spcPct val="131900"/>
              </a:lnSpc>
              <a:spcBef>
                <a:spcPts val="15"/>
              </a:spcBef>
            </a:pPr>
            <a:r>
              <a:rPr sz="3350" spc="815" dirty="0">
                <a:solidFill>
                  <a:srgbClr val="FFFFFF"/>
                </a:solidFill>
                <a:latin typeface="Segoe UI Symbol"/>
                <a:cs typeface="Segoe UI Symbol"/>
              </a:rPr>
              <a:t>☁</a:t>
            </a:r>
            <a:r>
              <a:rPr sz="3350" spc="-26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900" spc="40" dirty="0">
                <a:solidFill>
                  <a:srgbClr val="FFFFFF"/>
                </a:solidFill>
                <a:latin typeface="Trebuchet MS"/>
                <a:cs typeface="Trebuchet MS"/>
              </a:rPr>
              <a:t>Infraestructura </a:t>
            </a:r>
            <a:r>
              <a:rPr sz="2900" spc="50" dirty="0">
                <a:solidFill>
                  <a:srgbClr val="FFFFFF"/>
                </a:solidFill>
                <a:latin typeface="Trebuchet MS"/>
                <a:cs typeface="Trebuchet MS"/>
              </a:rPr>
              <a:t>Servicios</a:t>
            </a:r>
            <a:r>
              <a:rPr sz="29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Trebuchet MS"/>
                <a:cs typeface="Trebuchet MS"/>
              </a:rPr>
              <a:t>Cloud </a:t>
            </a: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Despliegue</a:t>
            </a:r>
            <a:r>
              <a:rPr sz="29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00" dirty="0">
                <a:solidFill>
                  <a:srgbClr val="FFFFFF"/>
                </a:solidFill>
                <a:latin typeface="Trebuchet MS"/>
                <a:cs typeface="Trebuchet MS"/>
              </a:rPr>
              <a:t>Backend </a:t>
            </a:r>
            <a:r>
              <a:rPr sz="2900" spc="145" dirty="0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sz="29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9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Trebuchet MS"/>
                <a:cs typeface="Trebuchet MS"/>
              </a:rPr>
              <a:t>datos </a:t>
            </a: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PostgreSQL</a:t>
            </a:r>
            <a:endParaRPr sz="2900">
              <a:latin typeface="Trebuchet MS"/>
              <a:cs typeface="Trebuchet MS"/>
            </a:endParaRPr>
          </a:p>
          <a:p>
            <a:pPr marL="645160" marR="1006475">
              <a:lnSpc>
                <a:spcPct val="133600"/>
              </a:lnSpc>
            </a:pPr>
            <a:r>
              <a:rPr sz="2900" spc="200" dirty="0">
                <a:solidFill>
                  <a:srgbClr val="FFFFFF"/>
                </a:solidFill>
                <a:latin typeface="Trebuchet MS"/>
                <a:cs typeface="Trebuchet MS"/>
              </a:rPr>
              <a:t>Módulo</a:t>
            </a:r>
            <a:r>
              <a:rPr sz="29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Trebuchet MS"/>
                <a:cs typeface="Trebuchet MS"/>
              </a:rPr>
              <a:t>web </a:t>
            </a:r>
            <a:r>
              <a:rPr sz="2900" spc="45" dirty="0">
                <a:solidFill>
                  <a:srgbClr val="FFFFFF"/>
                </a:solidFill>
                <a:latin typeface="Trebuchet MS"/>
                <a:cs typeface="Trebuchet MS"/>
              </a:rPr>
              <a:t>administrativo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2446" y="6945931"/>
            <a:ext cx="133350" cy="13334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224946" y="5955982"/>
            <a:ext cx="2665730" cy="126809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3350" spc="635" dirty="0">
                <a:solidFill>
                  <a:srgbClr val="FFFFFF"/>
                </a:solidFill>
                <a:latin typeface="Segoe UI Symbol"/>
                <a:cs typeface="Segoe UI Symbol"/>
              </a:rPr>
              <a:t>🗄</a:t>
            </a:r>
            <a:r>
              <a:rPr sz="3350" spc="-4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900" spc="130" dirty="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endParaRPr sz="2900">
              <a:latin typeface="Trebuchet MS"/>
              <a:cs typeface="Trebuchet MS"/>
            </a:endParaRPr>
          </a:p>
          <a:p>
            <a:pPr marL="645160">
              <a:lnSpc>
                <a:spcPct val="100000"/>
              </a:lnSpc>
              <a:spcBef>
                <a:spcPts val="1080"/>
              </a:spcBef>
            </a:pPr>
            <a:r>
              <a:rPr sz="2900" spc="110" dirty="0">
                <a:solidFill>
                  <a:srgbClr val="FFFFFF"/>
                </a:solidFill>
                <a:latin typeface="Trebuchet MS"/>
                <a:cs typeface="Trebuchet MS"/>
              </a:rPr>
              <a:t>PostgreSQL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42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9274" y="690614"/>
            <a:ext cx="13382624" cy="89249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42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523" y="1505294"/>
            <a:ext cx="12887322" cy="81248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25" dirty="0"/>
              <a:t>Diagrama</a:t>
            </a:r>
            <a:r>
              <a:rPr spc="-585" dirty="0"/>
              <a:t> </a:t>
            </a:r>
            <a:r>
              <a:rPr spc="-390" dirty="0"/>
              <a:t>de</a:t>
            </a:r>
            <a:r>
              <a:rPr spc="-580" dirty="0"/>
              <a:t> </a:t>
            </a:r>
            <a:r>
              <a:rPr spc="-340" dirty="0"/>
              <a:t>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492268"/>
            <a:ext cx="4667249" cy="7324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4617" y="1555608"/>
            <a:ext cx="4581524" cy="7458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66925" y="1555608"/>
            <a:ext cx="4210049" cy="737234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2870">
              <a:lnSpc>
                <a:spcPct val="100000"/>
              </a:lnSpc>
              <a:spcBef>
                <a:spcPts val="95"/>
              </a:spcBef>
            </a:pPr>
            <a:r>
              <a:rPr spc="-520" dirty="0"/>
              <a:t>Mockups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659" rIns="0" bIns="0" rtlCol="0">
            <a:spAutoFit/>
          </a:bodyPr>
          <a:lstStyle/>
          <a:p>
            <a:pPr marL="1565910">
              <a:lnSpc>
                <a:spcPct val="100000"/>
              </a:lnSpc>
              <a:spcBef>
                <a:spcPts val="95"/>
              </a:spcBef>
            </a:pPr>
            <a:r>
              <a:rPr spc="-550" dirty="0"/>
              <a:t>Próximos</a:t>
            </a:r>
            <a:r>
              <a:rPr spc="-560" dirty="0"/>
              <a:t> </a:t>
            </a:r>
            <a:r>
              <a:rPr spc="-655" dirty="0"/>
              <a:t>pasos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522605" indent="-346075">
              <a:lnSpc>
                <a:spcPct val="133600"/>
              </a:lnSpc>
              <a:spcBef>
                <a:spcPts val="95"/>
              </a:spcBef>
              <a:buAutoNum type="arabicPeriod"/>
              <a:tabLst>
                <a:tab pos="360045" algn="l"/>
              </a:tabLst>
            </a:pPr>
            <a:r>
              <a:rPr spc="90" dirty="0"/>
              <a:t>Continuar</a:t>
            </a:r>
            <a:r>
              <a:rPr spc="-110" dirty="0"/>
              <a:t> </a:t>
            </a:r>
            <a:r>
              <a:rPr spc="45" dirty="0"/>
              <a:t>desarrollo:</a:t>
            </a:r>
            <a:r>
              <a:rPr spc="-105" dirty="0"/>
              <a:t> </a:t>
            </a:r>
            <a:r>
              <a:rPr spc="85" dirty="0"/>
              <a:t>Implementar</a:t>
            </a:r>
            <a:r>
              <a:rPr spc="-105" dirty="0"/>
              <a:t> </a:t>
            </a:r>
            <a:r>
              <a:rPr spc="60" dirty="0"/>
              <a:t>las</a:t>
            </a:r>
            <a:r>
              <a:rPr spc="-105" dirty="0"/>
              <a:t> </a:t>
            </a:r>
            <a:r>
              <a:rPr spc="70" dirty="0"/>
              <a:t>funcionalidades</a:t>
            </a:r>
            <a:r>
              <a:rPr spc="-105" dirty="0"/>
              <a:t> </a:t>
            </a:r>
            <a:r>
              <a:rPr spc="65" dirty="0"/>
              <a:t>definidas</a:t>
            </a:r>
            <a:r>
              <a:rPr spc="-105" dirty="0"/>
              <a:t> </a:t>
            </a:r>
            <a:r>
              <a:rPr dirty="0"/>
              <a:t>y</a:t>
            </a:r>
            <a:r>
              <a:rPr spc="-105" dirty="0"/>
              <a:t> </a:t>
            </a:r>
            <a:r>
              <a:rPr spc="75" dirty="0"/>
              <a:t>priorizadas</a:t>
            </a:r>
            <a:r>
              <a:rPr spc="-105" dirty="0"/>
              <a:t> </a:t>
            </a:r>
            <a:r>
              <a:rPr spc="120" dirty="0"/>
              <a:t>en</a:t>
            </a:r>
            <a:r>
              <a:rPr spc="-105" dirty="0"/>
              <a:t> </a:t>
            </a:r>
            <a:r>
              <a:rPr dirty="0"/>
              <a:t>el</a:t>
            </a:r>
            <a:r>
              <a:rPr spc="-105" dirty="0"/>
              <a:t> </a:t>
            </a:r>
            <a:r>
              <a:rPr spc="75" dirty="0"/>
              <a:t>Product 	</a:t>
            </a:r>
            <a:r>
              <a:rPr spc="-10" dirty="0"/>
              <a:t>Backlog.</a:t>
            </a:r>
          </a:p>
          <a:p>
            <a:pPr marL="358140" marR="1591945" indent="-346075">
              <a:lnSpc>
                <a:spcPct val="133600"/>
              </a:lnSpc>
              <a:buAutoNum type="arabicPeriod"/>
              <a:tabLst>
                <a:tab pos="360045" algn="l"/>
              </a:tabLst>
            </a:pPr>
            <a:r>
              <a:rPr spc="75" dirty="0"/>
              <a:t>Completar</a:t>
            </a:r>
            <a:r>
              <a:rPr spc="-80" dirty="0"/>
              <a:t> </a:t>
            </a:r>
            <a:r>
              <a:rPr dirty="0"/>
              <a:t>interfaces:</a:t>
            </a:r>
            <a:r>
              <a:rPr spc="-75" dirty="0"/>
              <a:t> </a:t>
            </a:r>
            <a:r>
              <a:rPr spc="90" dirty="0"/>
              <a:t>Continuar</a:t>
            </a:r>
            <a:r>
              <a:rPr spc="-75" dirty="0"/>
              <a:t> </a:t>
            </a:r>
            <a:r>
              <a:rPr dirty="0"/>
              <a:t>el</a:t>
            </a:r>
            <a:r>
              <a:rPr spc="-75" dirty="0"/>
              <a:t> </a:t>
            </a:r>
            <a:r>
              <a:rPr spc="80" dirty="0"/>
              <a:t>desarrollo</a:t>
            </a:r>
            <a:r>
              <a:rPr spc="-75" dirty="0"/>
              <a:t> </a:t>
            </a:r>
            <a:r>
              <a:rPr spc="110" dirty="0"/>
              <a:t>de</a:t>
            </a:r>
            <a:r>
              <a:rPr spc="-75" dirty="0"/>
              <a:t> </a:t>
            </a:r>
            <a:r>
              <a:rPr dirty="0"/>
              <a:t>la</a:t>
            </a:r>
            <a:r>
              <a:rPr spc="-80" dirty="0"/>
              <a:t> </a:t>
            </a:r>
            <a:r>
              <a:rPr dirty="0"/>
              <a:t>aplicación</a:t>
            </a:r>
            <a:r>
              <a:rPr spc="-75" dirty="0"/>
              <a:t> </a:t>
            </a:r>
            <a:r>
              <a:rPr spc="55" dirty="0"/>
              <a:t>móvil</a:t>
            </a:r>
            <a:r>
              <a:rPr spc="-75" dirty="0"/>
              <a:t> </a:t>
            </a:r>
            <a:r>
              <a:rPr dirty="0"/>
              <a:t>y</a:t>
            </a:r>
            <a:r>
              <a:rPr spc="-75" dirty="0"/>
              <a:t> </a:t>
            </a:r>
            <a:r>
              <a:rPr dirty="0"/>
              <a:t>del</a:t>
            </a:r>
            <a:r>
              <a:rPr spc="-75" dirty="0"/>
              <a:t> </a:t>
            </a:r>
            <a:r>
              <a:rPr spc="155" dirty="0"/>
              <a:t>módulo</a:t>
            </a:r>
            <a:r>
              <a:rPr spc="-75" dirty="0"/>
              <a:t> </a:t>
            </a:r>
            <a:r>
              <a:rPr spc="75" dirty="0"/>
              <a:t>web 	</a:t>
            </a:r>
            <a:r>
              <a:rPr spc="-10" dirty="0"/>
              <a:t>administrativo.</a:t>
            </a:r>
          </a:p>
          <a:p>
            <a:pPr marL="358775" indent="-34607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358775" algn="l"/>
              </a:tabLst>
            </a:pPr>
            <a:r>
              <a:rPr dirty="0"/>
              <a:t>Integraciones:</a:t>
            </a:r>
            <a:r>
              <a:rPr spc="-40" dirty="0"/>
              <a:t>  </a:t>
            </a:r>
            <a:r>
              <a:rPr spc="75" dirty="0"/>
              <a:t>Completar</a:t>
            </a:r>
            <a:r>
              <a:rPr spc="-40" dirty="0"/>
              <a:t> </a:t>
            </a:r>
            <a:r>
              <a:rPr dirty="0"/>
              <a:t>la</a:t>
            </a:r>
            <a:r>
              <a:rPr spc="-45" dirty="0"/>
              <a:t> </a:t>
            </a:r>
            <a:r>
              <a:rPr spc="50" dirty="0"/>
              <a:t>integración</a:t>
            </a:r>
            <a:r>
              <a:rPr spc="-40" dirty="0"/>
              <a:t> </a:t>
            </a:r>
            <a:r>
              <a:rPr spc="114" dirty="0"/>
              <a:t>con</a:t>
            </a:r>
            <a:r>
              <a:rPr spc="-40" dirty="0"/>
              <a:t> </a:t>
            </a:r>
            <a:r>
              <a:rPr spc="110" dirty="0"/>
              <a:t>Transbank</a:t>
            </a:r>
            <a:r>
              <a:rPr spc="-40" dirty="0"/>
              <a:t> </a:t>
            </a:r>
            <a:r>
              <a:rPr spc="120" dirty="0"/>
              <a:t>Webpay</a:t>
            </a:r>
            <a:r>
              <a:rPr spc="-40" dirty="0"/>
              <a:t> </a:t>
            </a:r>
            <a:r>
              <a:rPr dirty="0"/>
              <a:t>y</a:t>
            </a:r>
            <a:r>
              <a:rPr spc="-40" dirty="0"/>
              <a:t> </a:t>
            </a:r>
            <a:r>
              <a:rPr spc="35" dirty="0"/>
              <a:t>Cloudinary.</a:t>
            </a:r>
          </a:p>
          <a:p>
            <a:pPr marL="358775" indent="-34607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358775" algn="l"/>
              </a:tabLst>
            </a:pPr>
            <a:r>
              <a:rPr spc="75" dirty="0"/>
              <a:t>Pruebas:</a:t>
            </a:r>
            <a:r>
              <a:rPr spc="-95" dirty="0"/>
              <a:t> </a:t>
            </a:r>
            <a:r>
              <a:rPr dirty="0"/>
              <a:t>Ejecutar</a:t>
            </a:r>
            <a:r>
              <a:rPr spc="-95" dirty="0"/>
              <a:t> </a:t>
            </a:r>
            <a:r>
              <a:rPr spc="135" dirty="0"/>
              <a:t>pruebas</a:t>
            </a:r>
            <a:r>
              <a:rPr spc="-90" dirty="0"/>
              <a:t> </a:t>
            </a:r>
            <a:r>
              <a:rPr spc="70" dirty="0"/>
              <a:t>funcionales</a:t>
            </a:r>
            <a:r>
              <a:rPr spc="-95" dirty="0"/>
              <a:t> </a:t>
            </a:r>
            <a:r>
              <a:rPr dirty="0"/>
              <a:t>y</a:t>
            </a:r>
            <a:r>
              <a:rPr spc="-95" dirty="0"/>
              <a:t> </a:t>
            </a:r>
            <a:r>
              <a:rPr spc="110" dirty="0"/>
              <a:t>de</a:t>
            </a:r>
            <a:r>
              <a:rPr spc="-90" dirty="0"/>
              <a:t> </a:t>
            </a:r>
            <a:r>
              <a:rPr spc="50" dirty="0"/>
              <a:t>integración</a:t>
            </a:r>
            <a:r>
              <a:rPr spc="-95" dirty="0"/>
              <a:t> </a:t>
            </a:r>
            <a:r>
              <a:rPr spc="135" dirty="0"/>
              <a:t>sobre</a:t>
            </a:r>
            <a:r>
              <a:rPr spc="-95" dirty="0"/>
              <a:t> </a:t>
            </a:r>
            <a:r>
              <a:rPr spc="95" dirty="0"/>
              <a:t>los</a:t>
            </a:r>
            <a:r>
              <a:rPr spc="-90" dirty="0"/>
              <a:t> </a:t>
            </a:r>
            <a:r>
              <a:rPr spc="50" dirty="0"/>
              <a:t>principales</a:t>
            </a:r>
            <a:r>
              <a:rPr spc="-95" dirty="0"/>
              <a:t> </a:t>
            </a:r>
            <a:r>
              <a:rPr dirty="0"/>
              <a:t>flujos</a:t>
            </a:r>
            <a:r>
              <a:rPr spc="-95" dirty="0"/>
              <a:t> </a:t>
            </a:r>
            <a:r>
              <a:rPr dirty="0"/>
              <a:t>del</a:t>
            </a:r>
            <a:r>
              <a:rPr spc="-90" dirty="0"/>
              <a:t> </a:t>
            </a:r>
            <a:r>
              <a:rPr spc="-10" dirty="0"/>
              <a:t>sistema.</a:t>
            </a:r>
          </a:p>
          <a:p>
            <a:pPr marL="358140" marR="2195195" indent="-346075">
              <a:lnSpc>
                <a:spcPct val="133600"/>
              </a:lnSpc>
              <a:buAutoNum type="arabicPeriod"/>
              <a:tabLst>
                <a:tab pos="360045" algn="l"/>
              </a:tabLst>
            </a:pPr>
            <a:r>
              <a:rPr spc="95" dirty="0"/>
              <a:t>Despliegue</a:t>
            </a:r>
            <a:r>
              <a:rPr spc="-75" dirty="0"/>
              <a:t> </a:t>
            </a:r>
            <a:r>
              <a:rPr dirty="0"/>
              <a:t>Cloud:</a:t>
            </a:r>
            <a:r>
              <a:rPr spc="-75" dirty="0"/>
              <a:t> </a:t>
            </a:r>
            <a:r>
              <a:rPr spc="105" dirty="0"/>
              <a:t>Desplegar</a:t>
            </a:r>
            <a:r>
              <a:rPr spc="-70" dirty="0"/>
              <a:t> </a:t>
            </a:r>
            <a:r>
              <a:rPr spc="45" dirty="0"/>
              <a:t>backend,</a:t>
            </a:r>
            <a:r>
              <a:rPr spc="-75" dirty="0"/>
              <a:t> </a:t>
            </a:r>
            <a:r>
              <a:rPr spc="140" dirty="0"/>
              <a:t>bases</a:t>
            </a:r>
            <a:r>
              <a:rPr spc="-75" dirty="0"/>
              <a:t> </a:t>
            </a:r>
            <a:r>
              <a:rPr spc="110" dirty="0"/>
              <a:t>de</a:t>
            </a:r>
            <a:r>
              <a:rPr spc="-70" dirty="0"/>
              <a:t> </a:t>
            </a:r>
            <a:r>
              <a:rPr spc="105" dirty="0"/>
              <a:t>datos</a:t>
            </a:r>
            <a:r>
              <a:rPr spc="-75" dirty="0"/>
              <a:t> </a:t>
            </a:r>
            <a:r>
              <a:rPr dirty="0"/>
              <a:t>y</a:t>
            </a:r>
            <a:r>
              <a:rPr spc="-75" dirty="0"/>
              <a:t> </a:t>
            </a:r>
            <a:r>
              <a:rPr spc="155" dirty="0"/>
              <a:t>módulo</a:t>
            </a:r>
            <a:r>
              <a:rPr spc="-70" dirty="0"/>
              <a:t> </a:t>
            </a:r>
            <a:r>
              <a:rPr spc="55" dirty="0"/>
              <a:t>administrativo</a:t>
            </a:r>
            <a:r>
              <a:rPr spc="-75" dirty="0"/>
              <a:t> </a:t>
            </a:r>
            <a:r>
              <a:rPr spc="95" dirty="0"/>
              <a:t>en 	</a:t>
            </a:r>
            <a:r>
              <a:rPr spc="45" dirty="0"/>
              <a:t>infraestructura</a:t>
            </a:r>
            <a:r>
              <a:rPr spc="-60" dirty="0"/>
              <a:t> </a:t>
            </a:r>
            <a:r>
              <a:rPr spc="-10" dirty="0"/>
              <a:t>cloud.</a:t>
            </a:r>
          </a:p>
          <a:p>
            <a:pPr marL="358140" marR="1642745" indent="-346075">
              <a:lnSpc>
                <a:spcPct val="133600"/>
              </a:lnSpc>
              <a:buAutoNum type="arabicPeriod"/>
              <a:tabLst>
                <a:tab pos="360045" algn="l"/>
              </a:tabLst>
            </a:pPr>
            <a:r>
              <a:rPr dirty="0"/>
              <a:t>Validación</a:t>
            </a:r>
            <a:r>
              <a:rPr spc="-40" dirty="0"/>
              <a:t> </a:t>
            </a:r>
            <a:r>
              <a:rPr spc="-45" dirty="0"/>
              <a:t>final:</a:t>
            </a:r>
            <a:r>
              <a:rPr spc="-40" dirty="0"/>
              <a:t> </a:t>
            </a:r>
            <a:r>
              <a:rPr dirty="0"/>
              <a:t>Validar</a:t>
            </a:r>
            <a:r>
              <a:rPr spc="-35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spc="80" dirty="0"/>
              <a:t>funcionamiento</a:t>
            </a:r>
            <a:r>
              <a:rPr spc="-40" dirty="0"/>
              <a:t> </a:t>
            </a:r>
            <a:r>
              <a:rPr dirty="0"/>
              <a:t>integral</a:t>
            </a:r>
            <a:r>
              <a:rPr spc="-35" dirty="0"/>
              <a:t> </a:t>
            </a:r>
            <a:r>
              <a:rPr spc="110" dirty="0"/>
              <a:t>de</a:t>
            </a:r>
            <a:r>
              <a:rPr spc="-40" dirty="0"/>
              <a:t> </a:t>
            </a:r>
            <a:r>
              <a:rPr dirty="0"/>
              <a:t>la</a:t>
            </a:r>
            <a:r>
              <a:rPr spc="-40" dirty="0"/>
              <a:t> </a:t>
            </a:r>
            <a:r>
              <a:rPr spc="90" dirty="0"/>
              <a:t>solución</a:t>
            </a:r>
            <a:r>
              <a:rPr spc="-35" dirty="0"/>
              <a:t> </a:t>
            </a:r>
            <a:r>
              <a:rPr dirty="0"/>
              <a:t>y</a:t>
            </a:r>
            <a:r>
              <a:rPr spc="-40" dirty="0"/>
              <a:t> </a:t>
            </a:r>
            <a:r>
              <a:rPr dirty="0"/>
              <a:t>realizar</a:t>
            </a:r>
            <a:r>
              <a:rPr spc="-40" dirty="0"/>
              <a:t> </a:t>
            </a:r>
            <a:r>
              <a:rPr spc="95" dirty="0"/>
              <a:t>los</a:t>
            </a:r>
            <a:r>
              <a:rPr spc="-35" dirty="0"/>
              <a:t> </a:t>
            </a:r>
            <a:r>
              <a:rPr spc="-10" dirty="0"/>
              <a:t>ajustes 	</a:t>
            </a:r>
            <a:r>
              <a:rPr spc="40" dirty="0"/>
              <a:t>necesarios.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659" rIns="0" bIns="0" rtlCol="0">
            <a:spAutoFit/>
          </a:bodyPr>
          <a:lstStyle/>
          <a:p>
            <a:pPr marL="1736089">
              <a:lnSpc>
                <a:spcPct val="100000"/>
              </a:lnSpc>
              <a:spcBef>
                <a:spcPts val="95"/>
              </a:spcBef>
            </a:pPr>
            <a:r>
              <a:rPr spc="-450" dirty="0"/>
              <a:t>Conclusión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2468428"/>
            <a:ext cx="133350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3649528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4830628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3499" y="6011728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4060" rIns="0" bIns="0" rtlCol="0">
            <a:spAutoFit/>
          </a:bodyPr>
          <a:lstStyle/>
          <a:p>
            <a:pPr marL="819150" marR="5080">
              <a:lnSpc>
                <a:spcPct val="133600"/>
              </a:lnSpc>
              <a:spcBef>
                <a:spcPts val="95"/>
              </a:spcBef>
            </a:pPr>
            <a:r>
              <a:rPr spc="90" dirty="0"/>
              <a:t>Solución</a:t>
            </a:r>
            <a:r>
              <a:rPr spc="-105" dirty="0"/>
              <a:t> </a:t>
            </a:r>
            <a:r>
              <a:rPr spc="90" dirty="0"/>
              <a:t>a</a:t>
            </a:r>
            <a:r>
              <a:rPr spc="-100" dirty="0"/>
              <a:t> </a:t>
            </a:r>
            <a:r>
              <a:rPr spc="160" dirty="0"/>
              <a:t>una</a:t>
            </a:r>
            <a:r>
              <a:rPr spc="-100" dirty="0"/>
              <a:t> </a:t>
            </a:r>
            <a:r>
              <a:rPr spc="85" dirty="0"/>
              <a:t>necesidad</a:t>
            </a:r>
            <a:r>
              <a:rPr spc="-100" dirty="0"/>
              <a:t> </a:t>
            </a:r>
            <a:r>
              <a:rPr spc="-30" dirty="0"/>
              <a:t>real:</a:t>
            </a:r>
            <a:r>
              <a:rPr spc="-100" dirty="0"/>
              <a:t> </a:t>
            </a:r>
            <a:r>
              <a:rPr dirty="0"/>
              <a:t>El</a:t>
            </a:r>
            <a:r>
              <a:rPr spc="-100" dirty="0"/>
              <a:t> </a:t>
            </a:r>
            <a:r>
              <a:rPr spc="65" dirty="0"/>
              <a:t>proyecto</a:t>
            </a:r>
            <a:r>
              <a:rPr spc="-105" dirty="0"/>
              <a:t> </a:t>
            </a:r>
            <a:r>
              <a:rPr spc="120" dirty="0"/>
              <a:t>busca</a:t>
            </a:r>
            <a:r>
              <a:rPr spc="-100" dirty="0"/>
              <a:t> </a:t>
            </a:r>
            <a:r>
              <a:rPr dirty="0"/>
              <a:t>digitalizar</a:t>
            </a:r>
            <a:r>
              <a:rPr spc="-100" dirty="0"/>
              <a:t> </a:t>
            </a:r>
            <a:r>
              <a:rPr dirty="0"/>
              <a:t>el</a:t>
            </a:r>
            <a:r>
              <a:rPr spc="-100" dirty="0"/>
              <a:t> </a:t>
            </a:r>
            <a:r>
              <a:rPr spc="114" dirty="0"/>
              <a:t>proceso</a:t>
            </a:r>
            <a:r>
              <a:rPr spc="-100" dirty="0"/>
              <a:t> </a:t>
            </a:r>
            <a:r>
              <a:rPr spc="110" dirty="0"/>
              <a:t>de</a:t>
            </a:r>
            <a:r>
              <a:rPr spc="-100" dirty="0"/>
              <a:t> </a:t>
            </a:r>
            <a:r>
              <a:rPr dirty="0"/>
              <a:t>venta</a:t>
            </a:r>
            <a:r>
              <a:rPr spc="-105" dirty="0"/>
              <a:t> </a:t>
            </a:r>
            <a:r>
              <a:rPr dirty="0"/>
              <a:t>y</a:t>
            </a:r>
            <a:r>
              <a:rPr spc="-100" dirty="0"/>
              <a:t> </a:t>
            </a:r>
            <a:r>
              <a:rPr spc="-10" dirty="0"/>
              <a:t>centralizar </a:t>
            </a:r>
            <a:r>
              <a:rPr dirty="0"/>
              <a:t>la</a:t>
            </a:r>
            <a:r>
              <a:rPr spc="-85" dirty="0"/>
              <a:t> </a:t>
            </a:r>
            <a:r>
              <a:rPr spc="80" dirty="0"/>
              <a:t>información</a:t>
            </a:r>
            <a:r>
              <a:rPr spc="-85" dirty="0"/>
              <a:t> </a:t>
            </a:r>
            <a:r>
              <a:rPr dirty="0"/>
              <a:t>del</a:t>
            </a:r>
            <a:r>
              <a:rPr spc="-85" dirty="0"/>
              <a:t> </a:t>
            </a:r>
            <a:r>
              <a:rPr spc="60" dirty="0"/>
              <a:t>emprendimiento.</a:t>
            </a:r>
          </a:p>
          <a:p>
            <a:pPr marL="819150" marR="938530">
              <a:lnSpc>
                <a:spcPct val="133600"/>
              </a:lnSpc>
            </a:pPr>
            <a:r>
              <a:rPr spc="90" dirty="0"/>
              <a:t>Solución</a:t>
            </a:r>
            <a:r>
              <a:rPr spc="-35" dirty="0"/>
              <a:t> </a:t>
            </a:r>
            <a:r>
              <a:rPr spc="-10" dirty="0"/>
              <a:t>integral:</a:t>
            </a:r>
            <a:r>
              <a:rPr spc="-35" dirty="0"/>
              <a:t> </a:t>
            </a:r>
            <a:r>
              <a:rPr spc="70" dirty="0"/>
              <a:t>La</a:t>
            </a:r>
            <a:r>
              <a:rPr spc="-35" dirty="0"/>
              <a:t> </a:t>
            </a:r>
            <a:r>
              <a:rPr spc="110" dirty="0"/>
              <a:t>propuesta</a:t>
            </a:r>
            <a:r>
              <a:rPr spc="-35" dirty="0"/>
              <a:t> </a:t>
            </a:r>
            <a:r>
              <a:rPr dirty="0"/>
              <a:t>integra</a:t>
            </a:r>
            <a:r>
              <a:rPr spc="-35" dirty="0"/>
              <a:t> </a:t>
            </a:r>
            <a:r>
              <a:rPr dirty="0"/>
              <a:t>aplicación</a:t>
            </a:r>
            <a:r>
              <a:rPr spc="-35" dirty="0"/>
              <a:t> </a:t>
            </a:r>
            <a:r>
              <a:rPr dirty="0"/>
              <a:t>móvil,</a:t>
            </a:r>
            <a:r>
              <a:rPr spc="-30" dirty="0"/>
              <a:t> </a:t>
            </a:r>
            <a:r>
              <a:rPr spc="70" dirty="0"/>
              <a:t>administración</a:t>
            </a:r>
            <a:r>
              <a:rPr spc="-35" dirty="0"/>
              <a:t> </a:t>
            </a:r>
            <a:r>
              <a:rPr dirty="0"/>
              <a:t>web,</a:t>
            </a:r>
            <a:r>
              <a:rPr spc="-35" dirty="0"/>
              <a:t> </a:t>
            </a:r>
            <a:r>
              <a:rPr spc="35" dirty="0"/>
              <a:t>backend, </a:t>
            </a:r>
            <a:r>
              <a:rPr spc="140" dirty="0"/>
              <a:t>bases</a:t>
            </a:r>
            <a:r>
              <a:rPr spc="-100" dirty="0"/>
              <a:t> </a:t>
            </a:r>
            <a:r>
              <a:rPr spc="110" dirty="0"/>
              <a:t>de</a:t>
            </a:r>
            <a:r>
              <a:rPr spc="-100" dirty="0"/>
              <a:t> </a:t>
            </a:r>
            <a:r>
              <a:rPr spc="105" dirty="0"/>
              <a:t>datos</a:t>
            </a:r>
            <a:r>
              <a:rPr spc="-100" dirty="0"/>
              <a:t> </a:t>
            </a:r>
            <a:r>
              <a:rPr dirty="0"/>
              <a:t>y</a:t>
            </a:r>
            <a:r>
              <a:rPr spc="-100" dirty="0"/>
              <a:t> </a:t>
            </a:r>
            <a:r>
              <a:rPr spc="55" dirty="0"/>
              <a:t>servicios</a:t>
            </a:r>
            <a:r>
              <a:rPr spc="-100" dirty="0"/>
              <a:t> </a:t>
            </a:r>
            <a:r>
              <a:rPr spc="-10" dirty="0"/>
              <a:t>externos.</a:t>
            </a:r>
          </a:p>
          <a:p>
            <a:pPr marL="819150" marR="2285365">
              <a:lnSpc>
                <a:spcPct val="133600"/>
              </a:lnSpc>
            </a:pPr>
            <a:r>
              <a:rPr dirty="0"/>
              <a:t>Planificación</a:t>
            </a:r>
            <a:r>
              <a:rPr spc="-10" dirty="0"/>
              <a:t> </a:t>
            </a:r>
            <a:r>
              <a:rPr dirty="0"/>
              <a:t>definida:</a:t>
            </a:r>
            <a:r>
              <a:rPr spc="-5" dirty="0"/>
              <a:t> </a:t>
            </a:r>
            <a:r>
              <a:rPr spc="70" dirty="0"/>
              <a:t>La</a:t>
            </a:r>
            <a:r>
              <a:rPr spc="-5" dirty="0"/>
              <a:t> </a:t>
            </a:r>
            <a:r>
              <a:rPr spc="80" dirty="0"/>
              <a:t>Fase</a:t>
            </a:r>
            <a:r>
              <a:rPr spc="-10" dirty="0"/>
              <a:t> </a:t>
            </a:r>
            <a:r>
              <a:rPr spc="135" dirty="0"/>
              <a:t>1</a:t>
            </a:r>
            <a:r>
              <a:rPr spc="-5" dirty="0"/>
              <a:t> </a:t>
            </a:r>
            <a:r>
              <a:rPr spc="55" dirty="0"/>
              <a:t>permitió</a:t>
            </a:r>
            <a:r>
              <a:rPr spc="-5" dirty="0"/>
              <a:t> </a:t>
            </a:r>
            <a:r>
              <a:rPr dirty="0"/>
              <a:t>establecer</a:t>
            </a:r>
            <a:r>
              <a:rPr spc="-5" dirty="0"/>
              <a:t> </a:t>
            </a:r>
            <a:r>
              <a:rPr spc="55" dirty="0"/>
              <a:t>requerimientos,</a:t>
            </a:r>
            <a:r>
              <a:rPr spc="-10" dirty="0"/>
              <a:t> objetivos, </a:t>
            </a:r>
            <a:r>
              <a:rPr dirty="0"/>
              <a:t>arquitectura, </a:t>
            </a:r>
            <a:r>
              <a:rPr spc="130" dirty="0"/>
              <a:t>modelo</a:t>
            </a:r>
            <a:r>
              <a:rPr spc="5" dirty="0"/>
              <a:t> </a:t>
            </a:r>
            <a:r>
              <a:rPr spc="110" dirty="0"/>
              <a:t>de</a:t>
            </a:r>
            <a:r>
              <a:rPr dirty="0"/>
              <a:t> datos,</a:t>
            </a:r>
            <a:r>
              <a:rPr spc="5" dirty="0"/>
              <a:t> </a:t>
            </a:r>
            <a:r>
              <a:rPr spc="70" dirty="0"/>
              <a:t>backlog</a:t>
            </a:r>
            <a:r>
              <a:rPr dirty="0"/>
              <a:t> y</a:t>
            </a:r>
            <a:r>
              <a:rPr spc="5" dirty="0"/>
              <a:t> </a:t>
            </a:r>
            <a:r>
              <a:rPr dirty="0"/>
              <a:t>planificación del</a:t>
            </a:r>
            <a:r>
              <a:rPr spc="5" dirty="0"/>
              <a:t> </a:t>
            </a:r>
            <a:r>
              <a:rPr spc="-10" dirty="0"/>
              <a:t>proyecto.</a:t>
            </a:r>
          </a:p>
          <a:p>
            <a:pPr marL="819150" marR="981710">
              <a:lnSpc>
                <a:spcPct val="133600"/>
              </a:lnSpc>
            </a:pPr>
            <a:r>
              <a:rPr spc="90" dirty="0"/>
              <a:t>Continuidad</a:t>
            </a:r>
            <a:r>
              <a:rPr spc="-75" dirty="0"/>
              <a:t> </a:t>
            </a:r>
            <a:r>
              <a:rPr dirty="0"/>
              <a:t>del</a:t>
            </a:r>
            <a:r>
              <a:rPr spc="-75" dirty="0"/>
              <a:t> </a:t>
            </a:r>
            <a:r>
              <a:rPr dirty="0"/>
              <a:t>proyecto:</a:t>
            </a:r>
            <a:r>
              <a:rPr spc="-70" dirty="0"/>
              <a:t> </a:t>
            </a:r>
            <a:r>
              <a:rPr spc="70" dirty="0"/>
              <a:t>La</a:t>
            </a:r>
            <a:r>
              <a:rPr spc="-75" dirty="0"/>
              <a:t> </a:t>
            </a:r>
            <a:r>
              <a:rPr spc="90" dirty="0"/>
              <a:t>solución</a:t>
            </a:r>
            <a:r>
              <a:rPr spc="-75" dirty="0"/>
              <a:t> </a:t>
            </a:r>
            <a:r>
              <a:rPr spc="60" dirty="0"/>
              <a:t>cuenta</a:t>
            </a:r>
            <a:r>
              <a:rPr spc="-70" dirty="0"/>
              <a:t> </a:t>
            </a:r>
            <a:r>
              <a:rPr spc="114" dirty="0"/>
              <a:t>con</a:t>
            </a:r>
            <a:r>
              <a:rPr spc="-75" dirty="0"/>
              <a:t> </a:t>
            </a:r>
            <a:r>
              <a:rPr spc="160" dirty="0"/>
              <a:t>una</a:t>
            </a:r>
            <a:r>
              <a:rPr spc="-75" dirty="0"/>
              <a:t> </a:t>
            </a:r>
            <a:r>
              <a:rPr spc="125" dirty="0"/>
              <a:t>base</a:t>
            </a:r>
            <a:r>
              <a:rPr spc="-70" dirty="0"/>
              <a:t> </a:t>
            </a:r>
            <a:r>
              <a:rPr spc="45" dirty="0"/>
              <a:t>definida</a:t>
            </a:r>
            <a:r>
              <a:rPr spc="-75" dirty="0"/>
              <a:t> </a:t>
            </a:r>
            <a:r>
              <a:rPr spc="100" dirty="0"/>
              <a:t>para</a:t>
            </a:r>
            <a:r>
              <a:rPr spc="-75" dirty="0"/>
              <a:t> </a:t>
            </a:r>
            <a:r>
              <a:rPr spc="75" dirty="0"/>
              <a:t>continuar</a:t>
            </a:r>
            <a:r>
              <a:rPr spc="-70" dirty="0"/>
              <a:t> </a:t>
            </a:r>
            <a:r>
              <a:rPr spc="180" dirty="0"/>
              <a:t>su </a:t>
            </a:r>
            <a:r>
              <a:rPr dirty="0"/>
              <a:t>desarrollo,</a:t>
            </a:r>
            <a:r>
              <a:rPr spc="-5" dirty="0"/>
              <a:t> </a:t>
            </a:r>
            <a:r>
              <a:rPr spc="75" dirty="0"/>
              <a:t>pruebas,</a:t>
            </a:r>
            <a:r>
              <a:rPr dirty="0"/>
              <a:t> </a:t>
            </a:r>
            <a:r>
              <a:rPr spc="50" dirty="0"/>
              <a:t>integración</a:t>
            </a:r>
            <a:r>
              <a:rPr dirty="0"/>
              <a:t> y </a:t>
            </a:r>
            <a:r>
              <a:rPr spc="80" dirty="0"/>
              <a:t>posterior</a:t>
            </a:r>
            <a:r>
              <a:rPr dirty="0"/>
              <a:t> </a:t>
            </a:r>
            <a:r>
              <a:rPr spc="35" dirty="0"/>
              <a:t>despliegue.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728</Words>
  <Application>Microsoft Office PowerPoint</Application>
  <PresentationFormat>Personalizado</PresentationFormat>
  <Paragraphs>89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 MT</vt:lpstr>
      <vt:lpstr>Arial Black</vt:lpstr>
      <vt:lpstr>Segoe UI Symbol</vt:lpstr>
      <vt:lpstr>Tahoma</vt:lpstr>
      <vt:lpstr>Trebuchet MS</vt:lpstr>
      <vt:lpstr>Office Theme</vt:lpstr>
      <vt:lpstr>E-COMMERCE FRUTOS SECOS DISEÑO Y DESARROLLO DE UNA SOLUCIÓN DE COMERCIO ELECTRÓNICO</vt:lpstr>
      <vt:lpstr>Equipo de trabajo</vt:lpstr>
      <vt:lpstr>Problemática</vt:lpstr>
      <vt:lpstr>Objetivo General</vt:lpstr>
      <vt:lpstr>Plan de trabajo</vt:lpstr>
      <vt:lpstr>Metodología SCRUM</vt:lpstr>
      <vt:lpstr>Tecnologías a utilizar</vt:lpstr>
      <vt:lpstr>Presentación de PowerPoint</vt:lpstr>
      <vt:lpstr>Diagrama de Arquitectura</vt:lpstr>
      <vt:lpstr>Mockups</vt:lpstr>
      <vt:lpstr>Próximos pasos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Fase 1</dc:title>
  <dc:creator>JOSELYN NICOLE GALLARDO ZAPATA</dc:creator>
  <cp:keywords>DAHTznapzFc,BAF-kbP-qyI</cp:keywords>
  <cp:lastModifiedBy>EDUARDO ANDRÉS RIVERA POBLETE</cp:lastModifiedBy>
  <cp:revision>1</cp:revision>
  <dcterms:created xsi:type="dcterms:W3CDTF">2026-09-21T13:13:30Z</dcterms:created>
  <dcterms:modified xsi:type="dcterms:W3CDTF">2026-09-21T13:14:24Z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2026-08-31T00:00:00Z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2026-09-21T00:00:00Z</vt:filetime>
  </property>
  <property fmtid="{D5CDD505-2E9C-101B-9397-08002B2CF9AE}" pid="6" name="Producer">
    <vt:lpwstr>Canva</vt:lpwstr>
  </property>
</Properties>
</file>